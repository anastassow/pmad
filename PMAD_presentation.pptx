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Antique Olive" charset="1" panose="020B0603020204030204"/>
      <p:regular r:id="rId18"/>
    </p:embeddedFont>
    <p:embeddedFont>
      <p:font typeface="TT Interphases" charset="1" panose="02000503020000020004"/>
      <p:regular r:id="rId19"/>
    </p:embeddedFont>
    <p:embeddedFont>
      <p:font typeface="TT Interphases Bold" charset="1" panose="02000803060000020004"/>
      <p:regular r:id="rId20"/>
    </p:embeddedFont>
    <p:embeddedFont>
      <p:font typeface="Arimo" charset="1" panose="020B0604020202020204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png" Type="http://schemas.openxmlformats.org/officeDocument/2006/relationships/image"/><Relationship Id="rId4" Target="../media/image16.png" Type="http://schemas.openxmlformats.org/officeDocument/2006/relationships/image"/><Relationship Id="rId5" Target="../media/image17.png" Type="http://schemas.openxmlformats.org/officeDocument/2006/relationships/image"/><Relationship Id="rId6" Target="../media/image18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782889" y="-1512280"/>
            <a:ext cx="7754521" cy="11316358"/>
            <a:chOff x="0" y="0"/>
            <a:chExt cx="1201378" cy="175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01378" cy="1753200"/>
            </a:xfrm>
            <a:custGeom>
              <a:avLst/>
              <a:gdLst/>
              <a:ahLst/>
              <a:cxnLst/>
              <a:rect r="r" b="b" t="t" l="l"/>
              <a:pathLst>
                <a:path h="1753200" w="1201378">
                  <a:moveTo>
                    <a:pt x="49919" y="0"/>
                  </a:moveTo>
                  <a:lnTo>
                    <a:pt x="1151459" y="0"/>
                  </a:lnTo>
                  <a:cubicBezTo>
                    <a:pt x="1164699" y="0"/>
                    <a:pt x="1177396" y="5259"/>
                    <a:pt x="1186757" y="14621"/>
                  </a:cubicBezTo>
                  <a:cubicBezTo>
                    <a:pt x="1196119" y="23982"/>
                    <a:pt x="1201378" y="36679"/>
                    <a:pt x="1201378" y="49919"/>
                  </a:cubicBezTo>
                  <a:lnTo>
                    <a:pt x="1201378" y="1703281"/>
                  </a:lnTo>
                  <a:cubicBezTo>
                    <a:pt x="1201378" y="1730851"/>
                    <a:pt x="1179029" y="1753200"/>
                    <a:pt x="1151459" y="1753200"/>
                  </a:cubicBezTo>
                  <a:lnTo>
                    <a:pt x="49919" y="1753200"/>
                  </a:lnTo>
                  <a:cubicBezTo>
                    <a:pt x="22349" y="1753200"/>
                    <a:pt x="0" y="1730851"/>
                    <a:pt x="0" y="1703281"/>
                  </a:cubicBezTo>
                  <a:lnTo>
                    <a:pt x="0" y="49919"/>
                  </a:lnTo>
                  <a:cubicBezTo>
                    <a:pt x="0" y="22349"/>
                    <a:pt x="22349" y="0"/>
                    <a:pt x="49919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425" r="0" b="-1425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666750" y="666750"/>
            <a:ext cx="1133475" cy="1133475"/>
          </a:xfrm>
          <a:custGeom>
            <a:avLst/>
            <a:gdLst/>
            <a:ahLst/>
            <a:cxnLst/>
            <a:rect r="r" b="b" t="t" l="l"/>
            <a:pathLst>
              <a:path h="1133475" w="1133475">
                <a:moveTo>
                  <a:pt x="0" y="0"/>
                </a:moveTo>
                <a:lnTo>
                  <a:pt x="1133475" y="0"/>
                </a:lnTo>
                <a:lnTo>
                  <a:pt x="1133475" y="1133475"/>
                </a:lnTo>
                <a:lnTo>
                  <a:pt x="0" y="11334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66750" y="2543175"/>
            <a:ext cx="8324850" cy="4867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000"/>
              </a:lnSpc>
            </a:pPr>
            <a:r>
              <a:rPr lang="en-US" sz="10000" spc="-100">
                <a:solidFill>
                  <a:srgbClr val="E6E6E6"/>
                </a:solidFill>
                <a:latin typeface="Antique Olive"/>
                <a:ea typeface="Antique Olive"/>
                <a:cs typeface="Antique Olive"/>
                <a:sym typeface="Antique Olive"/>
              </a:rPr>
              <a:t>PMAD: Predictive Memory Allocator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66750" y="9248775"/>
            <a:ext cx="6886575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79"/>
              </a:lnSpc>
            </a:pPr>
            <a:r>
              <a:rPr lang="en-US" sz="2400">
                <a:solidFill>
                  <a:srgbClr val="BFC7C9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Изготвено от Димитър Анастасов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31119" y="261355"/>
            <a:ext cx="16503096" cy="9847526"/>
            <a:chOff x="0" y="0"/>
            <a:chExt cx="1260191" cy="75196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21264" y="18611"/>
              <a:ext cx="1217663" cy="733355"/>
            </a:xfrm>
            <a:custGeom>
              <a:avLst/>
              <a:gdLst/>
              <a:ahLst/>
              <a:cxnLst/>
              <a:rect r="r" b="b" t="t" l="l"/>
              <a:pathLst>
                <a:path h="733355" w="1217663">
                  <a:moveTo>
                    <a:pt x="634442" y="11953"/>
                  </a:moveTo>
                  <a:lnTo>
                    <a:pt x="1213317" y="702791"/>
                  </a:lnTo>
                  <a:cubicBezTo>
                    <a:pt x="1217960" y="708333"/>
                    <a:pt x="1218974" y="716063"/>
                    <a:pt x="1215916" y="722615"/>
                  </a:cubicBezTo>
                  <a:cubicBezTo>
                    <a:pt x="1212858" y="729167"/>
                    <a:pt x="1206282" y="733355"/>
                    <a:pt x="1199052" y="733355"/>
                  </a:cubicBezTo>
                  <a:lnTo>
                    <a:pt x="18611" y="733355"/>
                  </a:lnTo>
                  <a:cubicBezTo>
                    <a:pt x="11381" y="733355"/>
                    <a:pt x="4805" y="729167"/>
                    <a:pt x="1747" y="722615"/>
                  </a:cubicBezTo>
                  <a:cubicBezTo>
                    <a:pt x="-1311" y="716063"/>
                    <a:pt x="-298" y="708333"/>
                    <a:pt x="4346" y="702791"/>
                  </a:cubicBezTo>
                  <a:lnTo>
                    <a:pt x="583221" y="11953"/>
                  </a:lnTo>
                  <a:cubicBezTo>
                    <a:pt x="589570" y="4376"/>
                    <a:pt x="598947" y="0"/>
                    <a:pt x="608831" y="0"/>
                  </a:cubicBezTo>
                  <a:cubicBezTo>
                    <a:pt x="618716" y="0"/>
                    <a:pt x="628093" y="4376"/>
                    <a:pt x="634442" y="1195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96905" y="339602"/>
              <a:ext cx="866381" cy="3586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89333" y="409314"/>
            <a:ext cx="15786668" cy="9551608"/>
            <a:chOff x="0" y="0"/>
            <a:chExt cx="1290693" cy="78089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22079" y="19606"/>
              <a:ext cx="1246536" cy="759885"/>
            </a:xfrm>
            <a:custGeom>
              <a:avLst/>
              <a:gdLst/>
              <a:ahLst/>
              <a:cxnLst/>
              <a:rect r="r" b="b" t="t" l="l"/>
              <a:pathLst>
                <a:path h="759885" w="1246536">
                  <a:moveTo>
                    <a:pt x="649851" y="12503"/>
                  </a:moveTo>
                  <a:lnTo>
                    <a:pt x="1242031" y="727776"/>
                  </a:lnTo>
                  <a:cubicBezTo>
                    <a:pt x="1246875" y="733627"/>
                    <a:pt x="1247904" y="741749"/>
                    <a:pt x="1244671" y="748623"/>
                  </a:cubicBezTo>
                  <a:cubicBezTo>
                    <a:pt x="1241438" y="755497"/>
                    <a:pt x="1234525" y="759885"/>
                    <a:pt x="1226929" y="759885"/>
                  </a:cubicBezTo>
                  <a:lnTo>
                    <a:pt x="19606" y="759885"/>
                  </a:lnTo>
                  <a:cubicBezTo>
                    <a:pt x="12010" y="759885"/>
                    <a:pt x="5097" y="755497"/>
                    <a:pt x="1864" y="748623"/>
                  </a:cubicBezTo>
                  <a:cubicBezTo>
                    <a:pt x="-1369" y="741749"/>
                    <a:pt x="-340" y="733627"/>
                    <a:pt x="4504" y="727776"/>
                  </a:cubicBezTo>
                  <a:lnTo>
                    <a:pt x="596685" y="12503"/>
                  </a:lnTo>
                  <a:cubicBezTo>
                    <a:pt x="603241" y="4583"/>
                    <a:pt x="612987" y="0"/>
                    <a:pt x="623268" y="0"/>
                  </a:cubicBezTo>
                  <a:cubicBezTo>
                    <a:pt x="633549" y="0"/>
                    <a:pt x="643294" y="4583"/>
                    <a:pt x="649851" y="12503"/>
                  </a:cubicBezTo>
                  <a:close/>
                </a:path>
              </a:pathLst>
            </a:custGeom>
            <a:solidFill>
              <a:srgbClr val="FF3131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273272" y="320023"/>
              <a:ext cx="744148" cy="459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-662429" y="3082300"/>
            <a:ext cx="5970671" cy="5970671"/>
          </a:xfrm>
          <a:custGeom>
            <a:avLst/>
            <a:gdLst/>
            <a:ahLst/>
            <a:cxnLst/>
            <a:rect r="r" b="b" t="t" l="l"/>
            <a:pathLst>
              <a:path h="5970671" w="5970671">
                <a:moveTo>
                  <a:pt x="0" y="0"/>
                </a:moveTo>
                <a:lnTo>
                  <a:pt x="5970671" y="0"/>
                </a:lnTo>
                <a:lnTo>
                  <a:pt x="5970671" y="5970671"/>
                </a:lnTo>
                <a:lnTo>
                  <a:pt x="0" y="597067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2317329" y="755685"/>
            <a:ext cx="5970671" cy="5970671"/>
          </a:xfrm>
          <a:custGeom>
            <a:avLst/>
            <a:gdLst/>
            <a:ahLst/>
            <a:cxnLst/>
            <a:rect r="r" b="b" t="t" l="l"/>
            <a:pathLst>
              <a:path h="5970671" w="5970671">
                <a:moveTo>
                  <a:pt x="0" y="0"/>
                </a:moveTo>
                <a:lnTo>
                  <a:pt x="5970671" y="0"/>
                </a:lnTo>
                <a:lnTo>
                  <a:pt x="5970671" y="5970671"/>
                </a:lnTo>
                <a:lnTo>
                  <a:pt x="0" y="59706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773194" y="7495250"/>
            <a:ext cx="10618946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  <a:spcBef>
                <a:spcPct val="0"/>
              </a:spcBef>
            </a:pPr>
            <a:r>
              <a:rPr lang="en-US" sz="4799" spc="239">
                <a:solidFill>
                  <a:srgbClr val="BFC7C9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МНОГО СИСТЕМНИ ИЗВИКВАНИЯ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441031" y="6113200"/>
            <a:ext cx="9405938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  <a:spcBef>
                <a:spcPct val="0"/>
              </a:spcBef>
            </a:pPr>
            <a:r>
              <a:rPr lang="en-US" sz="4799" spc="239">
                <a:solidFill>
                  <a:srgbClr val="BFC7C9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ВРЕМЕВА ВАРИАЦИЯ (JITTER)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981214" y="3370000"/>
            <a:ext cx="4202906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  <a:spcBef>
                <a:spcPct val="0"/>
              </a:spcBef>
            </a:pPr>
            <a:r>
              <a:rPr lang="en-US" sz="4800" spc="240">
                <a:solidFill>
                  <a:srgbClr val="BFC7C9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ЛАТЕНТНОСТ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671923" y="4732075"/>
            <a:ext cx="6821488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  <a:spcBef>
                <a:spcPct val="0"/>
              </a:spcBef>
            </a:pPr>
            <a:r>
              <a:rPr lang="en-US" sz="4799" spc="239">
                <a:solidFill>
                  <a:srgbClr val="BFC7C9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НЕПРЕДСКАЗУЕМОСТ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49156" y="618714"/>
            <a:ext cx="6331826" cy="1152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200"/>
              </a:lnSpc>
              <a:spcBef>
                <a:spcPct val="0"/>
              </a:spcBef>
            </a:pPr>
            <a:r>
              <a:rPr lang="en-US" sz="8000" spc="-80">
                <a:solidFill>
                  <a:srgbClr val="E6E6E6"/>
                </a:solidFill>
                <a:latin typeface="Antique Olive"/>
                <a:ea typeface="Antique Olive"/>
                <a:cs typeface="Antique Olive"/>
                <a:sym typeface="Antique Olive"/>
              </a:rPr>
              <a:t>Проблемите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322906" y="8886825"/>
            <a:ext cx="13873442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04"/>
              </a:lnSpc>
              <a:spcBef>
                <a:spcPct val="0"/>
              </a:spcBef>
            </a:pPr>
            <a:r>
              <a:rPr lang="en-US" sz="4920" spc="246">
                <a:solidFill>
                  <a:srgbClr val="BFC7C9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ВЪЗМОЖНОСТ ЗА ПЪЛНА КОНФУГУРАЦИЯ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6750" y="681038"/>
            <a:ext cx="16954500" cy="0"/>
          </a:xfrm>
          <a:prstGeom prst="line">
            <a:avLst/>
          </a:prstGeom>
          <a:ln cap="rnd" w="28575">
            <a:solidFill>
              <a:srgbClr val="FF9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295628" y="7121848"/>
            <a:ext cx="3840685" cy="2136452"/>
            <a:chOff x="0" y="0"/>
            <a:chExt cx="812800" cy="45213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452135"/>
            </a:xfrm>
            <a:custGeom>
              <a:avLst/>
              <a:gdLst/>
              <a:ahLst/>
              <a:cxnLst/>
              <a:rect r="r" b="b" t="t" l="l"/>
              <a:pathLst>
                <a:path h="452135" w="812800">
                  <a:moveTo>
                    <a:pt x="406400" y="0"/>
                  </a:moveTo>
                  <a:cubicBezTo>
                    <a:pt x="181951" y="0"/>
                    <a:pt x="0" y="101214"/>
                    <a:pt x="0" y="226067"/>
                  </a:cubicBezTo>
                  <a:cubicBezTo>
                    <a:pt x="0" y="350921"/>
                    <a:pt x="181951" y="452135"/>
                    <a:pt x="406400" y="452135"/>
                  </a:cubicBezTo>
                  <a:cubicBezTo>
                    <a:pt x="630849" y="452135"/>
                    <a:pt x="812800" y="350921"/>
                    <a:pt x="812800" y="226067"/>
                  </a:cubicBezTo>
                  <a:cubicBezTo>
                    <a:pt x="812800" y="101214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A4D9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32863"/>
              <a:ext cx="660400" cy="3768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66750" y="1193835"/>
            <a:ext cx="16954500" cy="2933701"/>
            <a:chOff x="0" y="0"/>
            <a:chExt cx="22606000" cy="3911601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66675"/>
              <a:ext cx="22606000" cy="15589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7200"/>
                </a:lnSpc>
                <a:spcBef>
                  <a:spcPct val="0"/>
                </a:spcBef>
              </a:pPr>
              <a:r>
                <a:rPr lang="en-US" sz="8000" spc="-80">
                  <a:solidFill>
                    <a:srgbClr val="E6E6E6"/>
                  </a:solidFill>
                  <a:latin typeface="Antique Olive"/>
                  <a:ea typeface="Antique Olive"/>
                  <a:cs typeface="Antique Olive"/>
                  <a:sym typeface="Antique Olive"/>
                </a:rPr>
                <a:t>Решението (PMAD)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2276476"/>
              <a:ext cx="22606000" cy="1635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6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4653333" y="4127536"/>
            <a:ext cx="3699008" cy="1933176"/>
            <a:chOff x="0" y="0"/>
            <a:chExt cx="812800" cy="42478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424786"/>
            </a:xfrm>
            <a:custGeom>
              <a:avLst/>
              <a:gdLst/>
              <a:ahLst/>
              <a:cxnLst/>
              <a:rect r="r" b="b" t="t" l="l"/>
              <a:pathLst>
                <a:path h="424786" w="812800">
                  <a:moveTo>
                    <a:pt x="406400" y="0"/>
                  </a:moveTo>
                  <a:cubicBezTo>
                    <a:pt x="181951" y="0"/>
                    <a:pt x="0" y="95091"/>
                    <a:pt x="0" y="212393"/>
                  </a:cubicBezTo>
                  <a:cubicBezTo>
                    <a:pt x="0" y="329694"/>
                    <a:pt x="181951" y="424786"/>
                    <a:pt x="406400" y="424786"/>
                  </a:cubicBezTo>
                  <a:cubicBezTo>
                    <a:pt x="630849" y="424786"/>
                    <a:pt x="812800" y="329694"/>
                    <a:pt x="812800" y="212393"/>
                  </a:cubicBezTo>
                  <a:cubicBezTo>
                    <a:pt x="812800" y="9509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A4D99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0299"/>
              <a:ext cx="660400" cy="3546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8352341" y="6721046"/>
            <a:ext cx="4152950" cy="2004524"/>
            <a:chOff x="0" y="0"/>
            <a:chExt cx="812800" cy="39231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392318"/>
            </a:xfrm>
            <a:custGeom>
              <a:avLst/>
              <a:gdLst/>
              <a:ahLst/>
              <a:cxnLst/>
              <a:rect r="r" b="b" t="t" l="l"/>
              <a:pathLst>
                <a:path h="392318" w="812800">
                  <a:moveTo>
                    <a:pt x="406400" y="0"/>
                  </a:moveTo>
                  <a:cubicBezTo>
                    <a:pt x="181951" y="0"/>
                    <a:pt x="0" y="87823"/>
                    <a:pt x="0" y="196159"/>
                  </a:cubicBezTo>
                  <a:cubicBezTo>
                    <a:pt x="0" y="304495"/>
                    <a:pt x="181951" y="392318"/>
                    <a:pt x="406400" y="392318"/>
                  </a:cubicBezTo>
                  <a:cubicBezTo>
                    <a:pt x="630849" y="392318"/>
                    <a:pt x="812800" y="304495"/>
                    <a:pt x="812800" y="196159"/>
                  </a:cubicBezTo>
                  <a:cubicBezTo>
                    <a:pt x="812800" y="87823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A4D99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27255"/>
              <a:ext cx="660400" cy="3282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1716206" y="3653265"/>
            <a:ext cx="3609690" cy="1948575"/>
            <a:chOff x="0" y="0"/>
            <a:chExt cx="812800" cy="43876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438764"/>
            </a:xfrm>
            <a:custGeom>
              <a:avLst/>
              <a:gdLst/>
              <a:ahLst/>
              <a:cxnLst/>
              <a:rect r="r" b="b" t="t" l="l"/>
              <a:pathLst>
                <a:path h="438764" w="812800">
                  <a:moveTo>
                    <a:pt x="406400" y="0"/>
                  </a:moveTo>
                  <a:cubicBezTo>
                    <a:pt x="181951" y="0"/>
                    <a:pt x="0" y="98221"/>
                    <a:pt x="0" y="219382"/>
                  </a:cubicBezTo>
                  <a:cubicBezTo>
                    <a:pt x="0" y="340543"/>
                    <a:pt x="181951" y="438764"/>
                    <a:pt x="406400" y="438764"/>
                  </a:cubicBezTo>
                  <a:cubicBezTo>
                    <a:pt x="630849" y="438764"/>
                    <a:pt x="812800" y="340543"/>
                    <a:pt x="812800" y="219382"/>
                  </a:cubicBezTo>
                  <a:cubicBezTo>
                    <a:pt x="812800" y="9822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A4D99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31609"/>
              <a:ext cx="660400" cy="3660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295628" y="7947187"/>
            <a:ext cx="3840685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19"/>
              </a:lnSpc>
              <a:spcBef>
                <a:spcPct val="0"/>
              </a:spcBef>
            </a:pPr>
            <a:r>
              <a:rPr lang="en-US" sz="3099" spc="154">
                <a:solidFill>
                  <a:srgbClr val="BFC7C9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ДЕТЕРМИНИЗЪМ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511656" y="4859090"/>
            <a:ext cx="3840685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19"/>
              </a:lnSpc>
              <a:spcBef>
                <a:spcPct val="0"/>
              </a:spcBef>
            </a:pPr>
            <a:r>
              <a:rPr lang="en-US" sz="3099" spc="154">
                <a:solidFill>
                  <a:srgbClr val="BFC7C9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КОНФУГУРАЦИ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508474" y="7013696"/>
            <a:ext cx="3840685" cy="1409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19"/>
              </a:lnSpc>
              <a:spcBef>
                <a:spcPct val="0"/>
              </a:spcBef>
            </a:pPr>
            <a:r>
              <a:rPr lang="en-US" sz="3099" spc="154">
                <a:solidFill>
                  <a:srgbClr val="BFC7C9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0 RUNTIME СИСТЕМНИ ИЗВИКРАВИЯ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600709" y="4392365"/>
            <a:ext cx="3840685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19"/>
              </a:lnSpc>
              <a:spcBef>
                <a:spcPct val="0"/>
              </a:spcBef>
            </a:pPr>
            <a:r>
              <a:rPr lang="en-US" sz="3099" spc="154">
                <a:solidFill>
                  <a:srgbClr val="BFC7C9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O(1) СЛОЖНОСТ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296400" y="1552575"/>
            <a:ext cx="1135886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79"/>
              </a:lnSpc>
              <a:spcBef>
                <a:spcPct val="0"/>
              </a:spcBef>
            </a:pPr>
            <a:r>
              <a:rPr lang="en-US" b="true" sz="2400" spc="120">
                <a:solidFill>
                  <a:srgbClr val="BFC7C9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01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296400" y="4238625"/>
            <a:ext cx="1135886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79"/>
              </a:lnSpc>
              <a:spcBef>
                <a:spcPct val="0"/>
              </a:spcBef>
            </a:pPr>
            <a:r>
              <a:rPr lang="en-US" b="true" sz="2400" spc="120">
                <a:solidFill>
                  <a:srgbClr val="BFC7C9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02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296400" y="6924675"/>
            <a:ext cx="1135886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79"/>
              </a:lnSpc>
              <a:spcBef>
                <a:spcPct val="0"/>
              </a:spcBef>
            </a:pPr>
            <a:r>
              <a:rPr lang="en-US" b="true" sz="2400" spc="120">
                <a:solidFill>
                  <a:srgbClr val="BFC7C9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03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0720027" y="1562100"/>
            <a:ext cx="6901223" cy="895350"/>
            <a:chOff x="0" y="0"/>
            <a:chExt cx="9201631" cy="119380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-9525"/>
              <a:ext cx="9201631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  <a:spcBef>
                  <a:spcPct val="0"/>
                </a:spcBef>
              </a:pPr>
              <a:r>
                <a:rPr lang="en-US" b="true" sz="2400" spc="120">
                  <a:solidFill>
                    <a:srgbClr val="BFC7C9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SLAB ALLOCATION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659130"/>
              <a:ext cx="9201631" cy="5346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BFC7C9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Ефективно управление на блоковете памет.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720027" y="4248150"/>
            <a:ext cx="6901223" cy="1314450"/>
            <a:chOff x="0" y="0"/>
            <a:chExt cx="9201631" cy="1752600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-9525"/>
              <a:ext cx="9201631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  <a:spcBef>
                  <a:spcPct val="0"/>
                </a:spcBef>
              </a:pPr>
              <a:r>
                <a:rPr lang="en-US" b="true" sz="2400" spc="120">
                  <a:solidFill>
                    <a:srgbClr val="BFC7C9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O(1) LOOKUP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659130"/>
              <a:ext cx="9201631" cy="10934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BFC7C9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Едно и също време за достъп при всяка алокация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720027" y="6934200"/>
            <a:ext cx="6901223" cy="1314450"/>
            <a:chOff x="0" y="0"/>
            <a:chExt cx="9201631" cy="1752600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-9525"/>
              <a:ext cx="9201631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  <a:spcBef>
                  <a:spcPct val="0"/>
                </a:spcBef>
              </a:pPr>
              <a:r>
                <a:rPr lang="en-US" b="true" sz="2400" spc="120">
                  <a:solidFill>
                    <a:srgbClr val="BFC7C9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LIFO FREE LIST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659130"/>
              <a:ext cx="9201631" cy="10934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BFC7C9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Оптимизиран за</a:t>
              </a:r>
              <a:r>
                <a:rPr lang="en-US" sz="2400">
                  <a:solidFill>
                    <a:srgbClr val="BFC7C9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бързо възстановяване на паметта.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666750" y="733425"/>
            <a:ext cx="7653814" cy="3895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200"/>
              </a:lnSpc>
              <a:spcBef>
                <a:spcPct val="0"/>
              </a:spcBef>
            </a:pPr>
            <a:r>
              <a:rPr lang="en-US" sz="8000" spc="-80">
                <a:solidFill>
                  <a:srgbClr val="E6E6E6"/>
                </a:solidFill>
                <a:latin typeface="Antique Olive"/>
                <a:ea typeface="Antique Olive"/>
                <a:cs typeface="Antique Olive"/>
                <a:sym typeface="Antique Olive"/>
              </a:rPr>
              <a:t>Основни</a:t>
            </a:r>
            <a:r>
              <a:rPr lang="en-US" sz="8000" spc="-80" strike="noStrike" u="none">
                <a:solidFill>
                  <a:srgbClr val="E6E6E6"/>
                </a:solidFill>
                <a:latin typeface="Antique Olive"/>
                <a:ea typeface="Antique Olive"/>
                <a:cs typeface="Antique Olive"/>
                <a:sym typeface="Antique Olive"/>
              </a:rPr>
              <a:t> </a:t>
            </a:r>
            <a:r>
              <a:rPr lang="en-US" sz="8000" spc="-80" strike="noStrike" u="none">
                <a:solidFill>
                  <a:srgbClr val="E6E6E6"/>
                </a:solidFill>
                <a:latin typeface="Antique Olive"/>
                <a:ea typeface="Antique Olive"/>
                <a:cs typeface="Antique Olive"/>
                <a:sym typeface="Antique Olive"/>
              </a:rPr>
              <a:t>принципи</a:t>
            </a:r>
            <a:r>
              <a:rPr lang="en-US" sz="8000" spc="-80" strike="noStrike" u="none">
                <a:solidFill>
                  <a:srgbClr val="E6E6E6"/>
                </a:solidFill>
                <a:latin typeface="Antique Olive"/>
                <a:ea typeface="Antique Olive"/>
                <a:cs typeface="Antique Olive"/>
                <a:sym typeface="Antique Olive"/>
              </a:rPr>
              <a:t> </a:t>
            </a:r>
            <a:r>
              <a:rPr lang="en-US" sz="8000" spc="-80" strike="noStrike" u="none">
                <a:solidFill>
                  <a:srgbClr val="E6E6E6"/>
                </a:solidFill>
                <a:latin typeface="Antique Olive"/>
                <a:ea typeface="Antique Olive"/>
                <a:cs typeface="Antique Olive"/>
                <a:sym typeface="Antique Olive"/>
              </a:rPr>
              <a:t>на дизайна</a:t>
            </a:r>
          </a:p>
          <a:p>
            <a:pPr algn="l" marL="0" indent="0" lvl="0">
              <a:lnSpc>
                <a:spcPts val="7200"/>
              </a:lnSpc>
              <a:spcBef>
                <a:spcPct val="0"/>
              </a:spcBef>
            </a:pPr>
          </a:p>
        </p:txBody>
      </p:sp>
      <p:sp>
        <p:nvSpPr>
          <p:cNvPr name="AutoShape 15" id="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296400" y="666750"/>
            <a:ext cx="8324850" cy="0"/>
          </a:xfrm>
          <a:prstGeom prst="line">
            <a:avLst/>
          </a:prstGeom>
          <a:ln cap="flat" w="28575">
            <a:solidFill>
              <a:srgbClr val="FF9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648401" y="0"/>
            <a:ext cx="12991199" cy="10287000"/>
            <a:chOff x="0" y="0"/>
            <a:chExt cx="1751774" cy="138713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51774" cy="1387131"/>
            </a:xfrm>
            <a:custGeom>
              <a:avLst/>
              <a:gdLst/>
              <a:ahLst/>
              <a:cxnLst/>
              <a:rect r="r" b="b" t="t" l="l"/>
              <a:pathLst>
                <a:path h="1387131" w="1751774">
                  <a:moveTo>
                    <a:pt x="29797" y="0"/>
                  </a:moveTo>
                  <a:lnTo>
                    <a:pt x="1721977" y="0"/>
                  </a:lnTo>
                  <a:cubicBezTo>
                    <a:pt x="1738434" y="0"/>
                    <a:pt x="1751774" y="13340"/>
                    <a:pt x="1751774" y="29797"/>
                  </a:cubicBezTo>
                  <a:lnTo>
                    <a:pt x="1751774" y="1357335"/>
                  </a:lnTo>
                  <a:cubicBezTo>
                    <a:pt x="1751774" y="1373791"/>
                    <a:pt x="1738434" y="1387131"/>
                    <a:pt x="1721977" y="1387131"/>
                  </a:cubicBezTo>
                  <a:lnTo>
                    <a:pt x="29797" y="1387131"/>
                  </a:lnTo>
                  <a:cubicBezTo>
                    <a:pt x="13340" y="1387131"/>
                    <a:pt x="0" y="1373791"/>
                    <a:pt x="0" y="1357335"/>
                  </a:cubicBezTo>
                  <a:lnTo>
                    <a:pt x="0" y="29797"/>
                  </a:lnTo>
                  <a:cubicBezTo>
                    <a:pt x="0" y="13340"/>
                    <a:pt x="13340" y="0"/>
                    <a:pt x="29797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7539" r="0" b="-7539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432036" y="4476005"/>
            <a:ext cx="6855964" cy="6221788"/>
          </a:xfrm>
          <a:custGeom>
            <a:avLst/>
            <a:gdLst/>
            <a:ahLst/>
            <a:cxnLst/>
            <a:rect r="r" b="b" t="t" l="l"/>
            <a:pathLst>
              <a:path h="6221788" w="6855964">
                <a:moveTo>
                  <a:pt x="0" y="0"/>
                </a:moveTo>
                <a:lnTo>
                  <a:pt x="6855964" y="0"/>
                </a:lnTo>
                <a:lnTo>
                  <a:pt x="6855964" y="6221788"/>
                </a:lnTo>
                <a:lnTo>
                  <a:pt x="0" y="62217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120295" y="-628650"/>
            <a:ext cx="6335127" cy="115443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695325" y="733425"/>
            <a:ext cx="6858000" cy="2100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200"/>
              </a:lnSpc>
              <a:spcBef>
                <a:spcPct val="0"/>
              </a:spcBef>
            </a:pPr>
            <a:r>
              <a:rPr lang="en-US" sz="8000" spc="-80">
                <a:solidFill>
                  <a:srgbClr val="E6E6E6"/>
                </a:solidFill>
                <a:latin typeface="Antique Olive"/>
                <a:ea typeface="Antique Olive"/>
                <a:cs typeface="Antique Olive"/>
                <a:sym typeface="Antique Olive"/>
              </a:rPr>
              <a:t>Резултати</a:t>
            </a:r>
          </a:p>
          <a:p>
            <a:pPr algn="l" marL="0" indent="0" lvl="0">
              <a:lnSpc>
                <a:spcPts val="7425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194748" y="5513193"/>
            <a:ext cx="4457817" cy="6356958"/>
          </a:xfrm>
          <a:custGeom>
            <a:avLst/>
            <a:gdLst/>
            <a:ahLst/>
            <a:cxnLst/>
            <a:rect r="r" b="b" t="t" l="l"/>
            <a:pathLst>
              <a:path h="6356958" w="4457817">
                <a:moveTo>
                  <a:pt x="0" y="0"/>
                </a:moveTo>
                <a:lnTo>
                  <a:pt x="4457817" y="0"/>
                </a:lnTo>
                <a:lnTo>
                  <a:pt x="4457817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54273" y="0"/>
            <a:ext cx="7785886" cy="4362305"/>
          </a:xfrm>
          <a:custGeom>
            <a:avLst/>
            <a:gdLst/>
            <a:ahLst/>
            <a:cxnLst/>
            <a:rect r="r" b="b" t="t" l="l"/>
            <a:pathLst>
              <a:path h="4362305" w="7785886">
                <a:moveTo>
                  <a:pt x="0" y="0"/>
                </a:moveTo>
                <a:lnTo>
                  <a:pt x="7785887" y="0"/>
                </a:lnTo>
                <a:lnTo>
                  <a:pt x="7785887" y="4362305"/>
                </a:lnTo>
                <a:lnTo>
                  <a:pt x="0" y="43623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765371" y="0"/>
            <a:ext cx="7598346" cy="4534050"/>
          </a:xfrm>
          <a:custGeom>
            <a:avLst/>
            <a:gdLst/>
            <a:ahLst/>
            <a:cxnLst/>
            <a:rect r="r" b="b" t="t" l="l"/>
            <a:pathLst>
              <a:path h="4534050" w="7598346">
                <a:moveTo>
                  <a:pt x="0" y="0"/>
                </a:moveTo>
                <a:lnTo>
                  <a:pt x="7598347" y="0"/>
                </a:lnTo>
                <a:lnTo>
                  <a:pt x="7598347" y="4534050"/>
                </a:lnTo>
                <a:lnTo>
                  <a:pt x="0" y="45340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637758" y="4554675"/>
            <a:ext cx="7439105" cy="4474546"/>
          </a:xfrm>
          <a:custGeom>
            <a:avLst/>
            <a:gdLst/>
            <a:ahLst/>
            <a:cxnLst/>
            <a:rect r="r" b="b" t="t" l="l"/>
            <a:pathLst>
              <a:path h="4474546" w="7439105">
                <a:moveTo>
                  <a:pt x="0" y="0"/>
                </a:moveTo>
                <a:lnTo>
                  <a:pt x="7439105" y="0"/>
                </a:lnTo>
                <a:lnTo>
                  <a:pt x="7439105" y="4474546"/>
                </a:lnTo>
                <a:lnTo>
                  <a:pt x="0" y="447454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43096" y="0"/>
            <a:ext cx="16426282" cy="10287000"/>
            <a:chOff x="0" y="0"/>
            <a:chExt cx="1400263" cy="8769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00263" cy="876918"/>
            </a:xfrm>
            <a:custGeom>
              <a:avLst/>
              <a:gdLst/>
              <a:ahLst/>
              <a:cxnLst/>
              <a:rect r="r" b="b" t="t" l="l"/>
              <a:pathLst>
                <a:path h="876918" w="1400263">
                  <a:moveTo>
                    <a:pt x="0" y="0"/>
                  </a:moveTo>
                  <a:lnTo>
                    <a:pt x="1400263" y="0"/>
                  </a:lnTo>
                  <a:lnTo>
                    <a:pt x="1400263" y="876918"/>
                  </a:lnTo>
                  <a:lnTo>
                    <a:pt x="0" y="876918"/>
                  </a:lnTo>
                  <a:close/>
                </a:path>
              </a:pathLst>
            </a:custGeom>
            <a:blipFill>
              <a:blip r:embed="rId2"/>
              <a:stretch>
                <a:fillRect l="0" t="-698" r="0" b="-698"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910858" y="2783619"/>
          <a:ext cx="16546445" cy="6474681"/>
        </p:xfrm>
        <a:graphic>
          <a:graphicData uri="http://schemas.openxmlformats.org/drawingml/2006/table">
            <a:tbl>
              <a:tblPr/>
              <a:tblGrid>
                <a:gridCol w="1751345"/>
                <a:gridCol w="3394046"/>
                <a:gridCol w="2900086"/>
                <a:gridCol w="3394046"/>
                <a:gridCol w="2571751"/>
                <a:gridCol w="2535173"/>
              </a:tblGrid>
              <a:tr h="134743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TT Interphases"/>
                          <a:ea typeface="TT Interphases"/>
                          <a:cs typeface="TT Interphases"/>
                          <a:sym typeface="TT Interphases"/>
                        </a:rPr>
                        <a:t>Game engine / ECS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TT Interphases"/>
                          <a:ea typeface="TT Interphases"/>
                          <a:cs typeface="TT Interphases"/>
                          <a:sym typeface="TT Interphases"/>
                        </a:rPr>
                        <a:t>Networking hubs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TT Interphases"/>
                          <a:ea typeface="TT Interphases"/>
                          <a:cs typeface="TT Interphases"/>
                          <a:sym typeface="TT Interphases"/>
                        </a:rPr>
                        <a:t>High-Frequency trading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TT Interphases"/>
                          <a:ea typeface="TT Interphases"/>
                          <a:cs typeface="TT Interphases"/>
                          <a:sym typeface="TT Interphases"/>
                        </a:rPr>
                        <a:t>Embeded control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TT Interphases"/>
                          <a:ea typeface="TT Interphases"/>
                          <a:cs typeface="TT Interphases"/>
                          <a:sym typeface="TT Interphases"/>
                        </a:rPr>
                        <a:t>Hard real-time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9431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TT Interphases"/>
                          <a:ea typeface="TT Interphases"/>
                          <a:cs typeface="TT Interphases"/>
                          <a:sym typeface="TT Interphases"/>
                        </a:rPr>
                        <a:t>Latency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TT Interphases"/>
                          <a:ea typeface="TT Interphases"/>
                          <a:cs typeface="TT Interphases"/>
                          <a:sym typeface="TT Interphases"/>
                        </a:rPr>
                        <a:t>26.0ns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TT Interphases"/>
                          <a:ea typeface="TT Interphases"/>
                          <a:cs typeface="TT Interphases"/>
                          <a:sym typeface="TT Interphases"/>
                        </a:rPr>
                        <a:t>24.7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TT Interphases"/>
                          <a:ea typeface="TT Interphases"/>
                          <a:cs typeface="TT Interphases"/>
                          <a:sym typeface="TT Interphases"/>
                        </a:rPr>
                        <a:t>24.7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TT Interphases"/>
                          <a:ea typeface="TT Interphases"/>
                          <a:cs typeface="TT Interphases"/>
                          <a:sym typeface="TT Interphases"/>
                        </a:rPr>
                        <a:t>22.3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TT Interphases"/>
                          <a:ea typeface="TT Interphases"/>
                          <a:cs typeface="TT Interphases"/>
                          <a:sym typeface="TT Interphases"/>
                        </a:rPr>
                        <a:t>22.3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9431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TT Interphases"/>
                          <a:ea typeface="TT Interphases"/>
                          <a:cs typeface="TT Interphases"/>
                          <a:sym typeface="TT Interphases"/>
                        </a:rPr>
                        <a:t>Throughput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TT Interphases"/>
                          <a:ea typeface="TT Interphases"/>
                          <a:cs typeface="TT Interphases"/>
                          <a:sym typeface="TT Interphases"/>
                        </a:rPr>
                        <a:t>397.2 M/s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TT Interphases"/>
                          <a:ea typeface="TT Interphases"/>
                          <a:cs typeface="TT Interphases"/>
                          <a:sym typeface="TT Interphases"/>
                        </a:rPr>
                        <a:t>397.2 M/s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TT Interphases"/>
                          <a:ea typeface="TT Interphases"/>
                          <a:cs typeface="TT Interphases"/>
                          <a:sym typeface="TT Interphases"/>
                        </a:rPr>
                        <a:t>397.2 M/s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TT Interphases"/>
                          <a:ea typeface="TT Interphases"/>
                          <a:cs typeface="TT Interphases"/>
                          <a:sym typeface="TT Interphases"/>
                        </a:rPr>
                        <a:t>327.7 M/s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TT Interphases"/>
                          <a:ea typeface="TT Interphases"/>
                          <a:cs typeface="TT Interphases"/>
                          <a:sym typeface="TT Interphases"/>
                        </a:rPr>
                        <a:t>327.7 M/s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7311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TT Interphases"/>
                          <a:ea typeface="TT Interphases"/>
                          <a:cs typeface="TT Interphases"/>
                          <a:sym typeface="TT Interphases"/>
                        </a:rPr>
                        <a:t>Jitter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TT Interphases"/>
                          <a:ea typeface="TT Interphases"/>
                          <a:cs typeface="TT Interphases"/>
                          <a:sym typeface="TT Interphases"/>
                        </a:rPr>
                        <a:t>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TT Interphases"/>
                          <a:ea typeface="TT Interphases"/>
                          <a:cs typeface="TT Interphases"/>
                          <a:sym typeface="TT Interphases"/>
                        </a:rPr>
                        <a:t>0</a:t>
                      </a:r>
                      <a:endParaRPr lang="en-US" sz="1100"/>
                    </a:p>
                    <a:p>
                      <a:pPr algn="ctr">
                        <a:lnSpc>
                          <a:spcPts val="252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TT Interphases"/>
                          <a:ea typeface="TT Interphases"/>
                          <a:cs typeface="TT Interphases"/>
                          <a:sym typeface="TT Interphases"/>
                        </a:rPr>
                        <a:t>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TT Interphases"/>
                          <a:ea typeface="TT Interphases"/>
                          <a:cs typeface="TT Interphases"/>
                          <a:sym typeface="TT Interphases"/>
                        </a:rPr>
                        <a:t>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TT Interphases"/>
                          <a:ea typeface="TT Interphases"/>
                          <a:cs typeface="TT Interphases"/>
                          <a:sym typeface="TT Interphases"/>
                        </a:rPr>
                        <a:t>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3275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TT Interphases"/>
                          <a:ea typeface="TT Interphases"/>
                          <a:cs typeface="TT Interphases"/>
                          <a:sym typeface="TT Interphases"/>
                        </a:rPr>
                        <a:t>Target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TT Interphases"/>
                          <a:ea typeface="TT Interphases"/>
                          <a:cs typeface="TT Interphases"/>
                          <a:sym typeface="TT Interphases"/>
                        </a:rPr>
                        <a:t>Entry Component Systems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TT Interphases"/>
                          <a:ea typeface="TT Interphases"/>
                          <a:cs typeface="TT Interphases"/>
                          <a:sym typeface="TT Interphases"/>
                        </a:rPr>
                        <a:t>Packet Buffers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TT Interphases"/>
                          <a:ea typeface="TT Interphases"/>
                          <a:cs typeface="TT Interphases"/>
                          <a:sym typeface="TT Interphases"/>
                        </a:rPr>
                        <a:t>Entry Component Systems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TT Interphases"/>
                          <a:ea typeface="TT Interphases"/>
                          <a:cs typeface="TT Interphases"/>
                          <a:sym typeface="TT Interphases"/>
                        </a:rPr>
                        <a:t>Tick-to-Trade Path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TT Interphases"/>
                          <a:ea typeface="TT Interphases"/>
                          <a:cs typeface="TT Interphases"/>
                          <a:sym typeface="TT Interphases"/>
                        </a:rPr>
                        <a:t>SRAM Constraints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3275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TT Interphases"/>
                          <a:ea typeface="TT Interphases"/>
                          <a:cs typeface="TT Interphases"/>
                          <a:sym typeface="TT Interphases"/>
                        </a:rPr>
                        <a:t>Layout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TT Interphases"/>
                          <a:ea typeface="TT Interphases"/>
                          <a:cs typeface="TT Interphases"/>
                          <a:sym typeface="TT Interphases"/>
                        </a:rPr>
                        <a:t>{16,64,256,1024,2048}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TT Interphases"/>
                          <a:ea typeface="TT Interphases"/>
                          <a:cs typeface="TT Interphases"/>
                          <a:sym typeface="TT Interphases"/>
                        </a:rPr>
                        <a:t>{32,128,512,1024,2048}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TT Interphases"/>
                          <a:ea typeface="TT Interphases"/>
                          <a:cs typeface="TT Interphases"/>
                          <a:sym typeface="TT Interphases"/>
                        </a:rPr>
                        <a:t>{32,128,512,1024,2048}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TT Interphases"/>
                          <a:ea typeface="TT Interphases"/>
                          <a:cs typeface="TT Interphases"/>
                          <a:sym typeface="TT Interphases"/>
                        </a:rPr>
                        <a:t>{8,16,32,64,128}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TT Interphases"/>
                          <a:ea typeface="TT Interphases"/>
                          <a:cs typeface="TT Interphases"/>
                          <a:sym typeface="TT Interphases"/>
                        </a:rPr>
                        <a:t>{8,16,32,64,128}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3" id="3"/>
          <p:cNvSpPr txBox="true"/>
          <p:nvPr/>
        </p:nvSpPr>
        <p:spPr>
          <a:xfrm rot="0">
            <a:off x="910858" y="704003"/>
            <a:ext cx="17722966" cy="2066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200"/>
              </a:lnSpc>
              <a:spcBef>
                <a:spcPct val="0"/>
              </a:spcBef>
            </a:pPr>
            <a:r>
              <a:rPr lang="en-US" sz="8000" spc="-80">
                <a:solidFill>
                  <a:srgbClr val="E6E6E6"/>
                </a:solidFill>
                <a:latin typeface="Antique Olive"/>
                <a:ea typeface="Antique Olive"/>
                <a:cs typeface="Antique Olive"/>
                <a:sym typeface="Antique Olive"/>
              </a:rPr>
              <a:t>Изтествани добри конфигурации</a:t>
            </a:r>
          </a:p>
          <a:p>
            <a:pPr algn="l" marL="0" indent="0" lvl="0">
              <a:lnSpc>
                <a:spcPts val="72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733425"/>
            <a:ext cx="16954500" cy="1152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200"/>
              </a:lnSpc>
              <a:spcBef>
                <a:spcPct val="0"/>
              </a:spcBef>
            </a:pPr>
            <a:r>
              <a:rPr lang="en-US" sz="8000" spc="-80">
                <a:solidFill>
                  <a:srgbClr val="E6E6E6"/>
                </a:solidFill>
                <a:latin typeface="Antique Olive"/>
                <a:ea typeface="Antique Olive"/>
                <a:cs typeface="Antique Olive"/>
                <a:sym typeface="Antique Olive"/>
              </a:rPr>
              <a:t>Пазарна стойност на PMAD</a:t>
            </a:r>
          </a:p>
        </p:txBody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873733" y="2175635"/>
          <a:ext cx="16747517" cy="7547457"/>
        </p:xfrm>
        <a:graphic>
          <a:graphicData uri="http://schemas.openxmlformats.org/drawingml/2006/table">
            <a:tbl>
              <a:tblPr/>
              <a:tblGrid>
                <a:gridCol w="4186879"/>
                <a:gridCol w="4186879"/>
                <a:gridCol w="4186879"/>
                <a:gridCol w="4186879"/>
              </a:tblGrid>
              <a:tr h="150949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5599"/>
                        </a:lnSpc>
                        <a:defRPr/>
                      </a:pPr>
                      <a:r>
                        <a:rPr lang="en-US" sz="3999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Технология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5599"/>
                        </a:lnSpc>
                        <a:defRPr/>
                      </a:pPr>
                      <a:r>
                        <a:rPr lang="en-US" sz="3999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Сегашен размер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5599"/>
                        </a:lnSpc>
                        <a:defRPr/>
                      </a:pPr>
                      <a:r>
                        <a:rPr lang="en-US" sz="3999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Прогноза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5599"/>
                        </a:lnSpc>
                        <a:defRPr/>
                      </a:pPr>
                      <a:r>
                        <a:rPr lang="en-US" sz="3999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Годишен растеж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0949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Edge Computing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~$23.65 млрд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~$327 млрд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~33% CAGR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0949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Edge AI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~$35.8 млрд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~$385 млрд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~33% CAGR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0949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Automotive Edge решения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~$12.7 млрд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~$80 млрд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~20% CAGR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0949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IoT устройства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~18.5 млрд устройства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~39 млрд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~13% CAGR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1450" y="5316747"/>
            <a:ext cx="9467149" cy="4970253"/>
          </a:xfrm>
          <a:custGeom>
            <a:avLst/>
            <a:gdLst/>
            <a:ahLst/>
            <a:cxnLst/>
            <a:rect r="r" b="b" t="t" l="l"/>
            <a:pathLst>
              <a:path h="4970253" w="9467149">
                <a:moveTo>
                  <a:pt x="0" y="0"/>
                </a:moveTo>
                <a:lnTo>
                  <a:pt x="9467149" y="0"/>
                </a:lnTo>
                <a:lnTo>
                  <a:pt x="9467149" y="4970253"/>
                </a:lnTo>
                <a:lnTo>
                  <a:pt x="0" y="497025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750330" y="-20776"/>
            <a:ext cx="10495478" cy="5474541"/>
          </a:xfrm>
          <a:custGeom>
            <a:avLst/>
            <a:gdLst/>
            <a:ahLst/>
            <a:cxnLst/>
            <a:rect r="r" b="b" t="t" l="l"/>
            <a:pathLst>
              <a:path h="5474541" w="10495478">
                <a:moveTo>
                  <a:pt x="0" y="0"/>
                </a:moveTo>
                <a:lnTo>
                  <a:pt x="10495478" y="0"/>
                </a:lnTo>
                <a:lnTo>
                  <a:pt x="10495478" y="5474542"/>
                </a:lnTo>
                <a:lnTo>
                  <a:pt x="0" y="54745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0"/>
            <a:ext cx="7750330" cy="5432990"/>
          </a:xfrm>
          <a:custGeom>
            <a:avLst/>
            <a:gdLst/>
            <a:ahLst/>
            <a:cxnLst/>
            <a:rect r="r" b="b" t="t" l="l"/>
            <a:pathLst>
              <a:path h="5432990" w="7750330">
                <a:moveTo>
                  <a:pt x="0" y="0"/>
                </a:moveTo>
                <a:lnTo>
                  <a:pt x="7750330" y="0"/>
                </a:lnTo>
                <a:lnTo>
                  <a:pt x="7750330" y="5432990"/>
                </a:lnTo>
                <a:lnTo>
                  <a:pt x="0" y="54329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736" r="-82393" b="-736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435699" y="5453766"/>
            <a:ext cx="3721590" cy="4833234"/>
          </a:xfrm>
          <a:custGeom>
            <a:avLst/>
            <a:gdLst/>
            <a:ahLst/>
            <a:cxnLst/>
            <a:rect r="r" b="b" t="t" l="l"/>
            <a:pathLst>
              <a:path h="4833234" w="3721590">
                <a:moveTo>
                  <a:pt x="0" y="0"/>
                </a:moveTo>
                <a:lnTo>
                  <a:pt x="3721590" y="0"/>
                </a:lnTo>
                <a:lnTo>
                  <a:pt x="3721590" y="4833234"/>
                </a:lnTo>
                <a:lnTo>
                  <a:pt x="0" y="483323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157289" y="5462521"/>
            <a:ext cx="4983587" cy="4824479"/>
          </a:xfrm>
          <a:custGeom>
            <a:avLst/>
            <a:gdLst/>
            <a:ahLst/>
            <a:cxnLst/>
            <a:rect r="r" b="b" t="t" l="l"/>
            <a:pathLst>
              <a:path h="4824479" w="4983587">
                <a:moveTo>
                  <a:pt x="0" y="0"/>
                </a:moveTo>
                <a:lnTo>
                  <a:pt x="4983588" y="0"/>
                </a:lnTo>
                <a:lnTo>
                  <a:pt x="4983588" y="4824479"/>
                </a:lnTo>
                <a:lnTo>
                  <a:pt x="0" y="482447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-72101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771525"/>
            <a:ext cx="16954500" cy="6703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079"/>
              </a:lnSpc>
              <a:spcBef>
                <a:spcPct val="0"/>
              </a:spcBef>
            </a:pPr>
            <a:r>
              <a:rPr lang="en-US" sz="11199" spc="-111">
                <a:solidFill>
                  <a:srgbClr val="E6E6E6"/>
                </a:solidFill>
                <a:latin typeface="Antique Olive"/>
                <a:ea typeface="Antique Olive"/>
                <a:cs typeface="Antique Olive"/>
                <a:sym typeface="Antique Olive"/>
              </a:rPr>
              <a:t>„Детерминизмът</a:t>
            </a:r>
            <a:r>
              <a:rPr lang="en-US" sz="11199" spc="-111" strike="noStrike" u="none">
                <a:solidFill>
                  <a:srgbClr val="E6E6E6"/>
                </a:solidFill>
                <a:latin typeface="Antique Olive"/>
                <a:ea typeface="Antique Olive"/>
                <a:cs typeface="Antique Olive"/>
                <a:sym typeface="Antique Olive"/>
              </a:rPr>
              <a:t> </a:t>
            </a:r>
            <a:r>
              <a:rPr lang="en-US" sz="11199" spc="-111" strike="noStrike" u="none">
                <a:solidFill>
                  <a:srgbClr val="E6E6E6"/>
                </a:solidFill>
                <a:latin typeface="Antique Olive"/>
                <a:ea typeface="Antique Olive"/>
                <a:cs typeface="Antique Olive"/>
                <a:sym typeface="Antique Olive"/>
              </a:rPr>
              <a:t>е</a:t>
            </a:r>
            <a:r>
              <a:rPr lang="en-US" sz="11199" spc="-111" strike="noStrike" u="none">
                <a:solidFill>
                  <a:srgbClr val="E6E6E6"/>
                </a:solidFill>
                <a:latin typeface="Antique Olive"/>
                <a:ea typeface="Antique Olive"/>
                <a:cs typeface="Antique Olive"/>
                <a:sym typeface="Antique Olive"/>
              </a:rPr>
              <a:t> </a:t>
            </a:r>
            <a:r>
              <a:rPr lang="en-US" sz="11199" spc="-111" strike="noStrike" u="none">
                <a:solidFill>
                  <a:srgbClr val="E6E6E6"/>
                </a:solidFill>
                <a:latin typeface="Antique Olive"/>
                <a:ea typeface="Antique Olive"/>
                <a:cs typeface="Antique Olive"/>
                <a:sym typeface="Antique Olive"/>
              </a:rPr>
              <a:t>характеристика</a:t>
            </a:r>
            <a:r>
              <a:rPr lang="en-US" sz="11199" spc="-111" strike="noStrike" u="none">
                <a:solidFill>
                  <a:srgbClr val="E6E6E6"/>
                </a:solidFill>
                <a:latin typeface="Antique Olive"/>
                <a:ea typeface="Antique Olive"/>
                <a:cs typeface="Antique Olive"/>
                <a:sym typeface="Antique Olive"/>
              </a:rPr>
              <a:t>. </a:t>
            </a:r>
            <a:r>
              <a:rPr lang="en-US" sz="11199" spc="-111" strike="noStrike" u="none">
                <a:solidFill>
                  <a:srgbClr val="E6E6E6"/>
                </a:solidFill>
                <a:latin typeface="Antique Olive"/>
                <a:ea typeface="Antique Olive"/>
                <a:cs typeface="Antique Olive"/>
                <a:sym typeface="Antique Olive"/>
              </a:rPr>
              <a:t>Предсказуемостта</a:t>
            </a:r>
            <a:r>
              <a:rPr lang="en-US" sz="11199" spc="-111" strike="noStrike" u="none">
                <a:solidFill>
                  <a:srgbClr val="E6E6E6"/>
                </a:solidFill>
                <a:latin typeface="Antique Olive"/>
                <a:ea typeface="Antique Olive"/>
                <a:cs typeface="Antique Olive"/>
                <a:sym typeface="Antique Olive"/>
              </a:rPr>
              <a:t> </a:t>
            </a:r>
            <a:r>
              <a:rPr lang="en-US" sz="11199" spc="-111" strike="noStrike" u="none">
                <a:solidFill>
                  <a:srgbClr val="E6E6E6"/>
                </a:solidFill>
                <a:latin typeface="Antique Olive"/>
                <a:ea typeface="Antique Olive"/>
                <a:cs typeface="Antique Olive"/>
                <a:sym typeface="Antique Olive"/>
              </a:rPr>
              <a:t>е</a:t>
            </a:r>
            <a:r>
              <a:rPr lang="en-US" sz="11199" spc="-111" strike="noStrike" u="none">
                <a:solidFill>
                  <a:srgbClr val="E6E6E6"/>
                </a:solidFill>
                <a:latin typeface="Antique Olive"/>
                <a:ea typeface="Antique Olive"/>
                <a:cs typeface="Antique Olive"/>
                <a:sym typeface="Antique Olive"/>
              </a:rPr>
              <a:t> </a:t>
            </a:r>
            <a:r>
              <a:rPr lang="en-US" sz="11199" spc="-111" strike="noStrike" u="none">
                <a:solidFill>
                  <a:srgbClr val="E6E6E6"/>
                </a:solidFill>
                <a:latin typeface="Antique Olive"/>
                <a:ea typeface="Antique Olive"/>
                <a:cs typeface="Antique Olive"/>
                <a:sym typeface="Antique Olive"/>
              </a:rPr>
              <a:t>сила</a:t>
            </a:r>
            <a:r>
              <a:rPr lang="en-US" sz="11199" spc="-111" strike="noStrike" u="none">
                <a:solidFill>
                  <a:srgbClr val="E6E6E6"/>
                </a:solidFill>
                <a:latin typeface="Antique Olive"/>
                <a:ea typeface="Antique Olive"/>
                <a:cs typeface="Antique Olive"/>
                <a:sym typeface="Antique Olive"/>
              </a:rPr>
              <a:t>.</a:t>
            </a:r>
            <a:r>
              <a:rPr lang="en-US" sz="11199" spc="-111" strike="noStrike" u="none">
                <a:solidFill>
                  <a:srgbClr val="E6E6E6"/>
                </a:solidFill>
                <a:latin typeface="Antique Olive"/>
                <a:ea typeface="Antique Olive"/>
                <a:cs typeface="Antique Olive"/>
                <a:sym typeface="Antique Olive"/>
              </a:rPr>
              <a:t>“</a:t>
            </a:r>
          </a:p>
          <a:p>
            <a:pPr algn="l" marL="0" indent="0" lvl="0">
              <a:lnSpc>
                <a:spcPts val="10079"/>
              </a:lnSpc>
              <a:spcBef>
                <a:spcPct val="0"/>
              </a:spcBef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666750" y="9248775"/>
            <a:ext cx="8324850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79"/>
              </a:lnSpc>
              <a:spcBef>
                <a:spcPct val="0"/>
              </a:spcBef>
            </a:pPr>
            <a:r>
              <a:rPr lang="en-US" b="true" sz="2400" spc="120">
                <a:solidFill>
                  <a:srgbClr val="BFC7C9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– PMAD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6659225" y="6934200"/>
            <a:ext cx="3352800" cy="3352800"/>
          </a:xfrm>
          <a:custGeom>
            <a:avLst/>
            <a:gdLst/>
            <a:ahLst/>
            <a:cxnLst/>
            <a:rect r="r" b="b" t="t" l="l"/>
            <a:pathLst>
              <a:path h="3352800" w="3352800">
                <a:moveTo>
                  <a:pt x="0" y="0"/>
                </a:moveTo>
                <a:lnTo>
                  <a:pt x="3352800" y="0"/>
                </a:lnTo>
                <a:lnTo>
                  <a:pt x="3352800" y="3352800"/>
                </a:lnTo>
                <a:lnTo>
                  <a:pt x="0" y="3352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306425" y="6934200"/>
            <a:ext cx="3352800" cy="3352800"/>
          </a:xfrm>
          <a:custGeom>
            <a:avLst/>
            <a:gdLst/>
            <a:ahLst/>
            <a:cxnLst/>
            <a:rect r="r" b="b" t="t" l="l"/>
            <a:pathLst>
              <a:path h="3352800" w="3352800">
                <a:moveTo>
                  <a:pt x="0" y="0"/>
                </a:moveTo>
                <a:lnTo>
                  <a:pt x="3352800" y="0"/>
                </a:lnTo>
                <a:lnTo>
                  <a:pt x="3352800" y="3352800"/>
                </a:lnTo>
                <a:lnTo>
                  <a:pt x="0" y="3352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Presentation - PMAD: Predictive Memory Allocator</dc:description>
  <dc:identifier>DAHCpzt6bNg</dc:identifier>
  <dcterms:modified xsi:type="dcterms:W3CDTF">2011-08-01T06:04:30Z</dcterms:modified>
  <cp:revision>1</cp:revision>
  <dc:title>Presentation - PMAD: Predictive Memory Allocator</dc:title>
</cp:coreProperties>
</file>