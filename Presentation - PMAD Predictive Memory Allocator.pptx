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Antique Olive" charset="1" panose="020B0603020204030204"/>
      <p:regular r:id="rId15"/>
    </p:embeddedFont>
    <p:embeddedFont>
      <p:font typeface="TT Interphases" charset="1" panose="02000503020000020004"/>
      <p:regular r:id="rId16"/>
    </p:embeddedFont>
    <p:embeddedFont>
      <p:font typeface="TT Interphases Bold" charset="1" panose="02000803060000020004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png" Type="http://schemas.openxmlformats.org/officeDocument/2006/relationships/image"/><Relationship Id="rId4" Target="../media/image9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782889" y="-1512280"/>
            <a:ext cx="7754521" cy="11316358"/>
            <a:chOff x="0" y="0"/>
            <a:chExt cx="1201378" cy="1753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01378" cy="1753200"/>
            </a:xfrm>
            <a:custGeom>
              <a:avLst/>
              <a:gdLst/>
              <a:ahLst/>
              <a:cxnLst/>
              <a:rect r="r" b="b" t="t" l="l"/>
              <a:pathLst>
                <a:path h="1753200" w="1201378">
                  <a:moveTo>
                    <a:pt x="49919" y="0"/>
                  </a:moveTo>
                  <a:lnTo>
                    <a:pt x="1151459" y="0"/>
                  </a:lnTo>
                  <a:cubicBezTo>
                    <a:pt x="1164699" y="0"/>
                    <a:pt x="1177396" y="5259"/>
                    <a:pt x="1186757" y="14621"/>
                  </a:cubicBezTo>
                  <a:cubicBezTo>
                    <a:pt x="1196119" y="23982"/>
                    <a:pt x="1201378" y="36679"/>
                    <a:pt x="1201378" y="49919"/>
                  </a:cubicBezTo>
                  <a:lnTo>
                    <a:pt x="1201378" y="1703281"/>
                  </a:lnTo>
                  <a:cubicBezTo>
                    <a:pt x="1201378" y="1730851"/>
                    <a:pt x="1179029" y="1753200"/>
                    <a:pt x="1151459" y="1753200"/>
                  </a:cubicBezTo>
                  <a:lnTo>
                    <a:pt x="49919" y="1753200"/>
                  </a:lnTo>
                  <a:cubicBezTo>
                    <a:pt x="22349" y="1753200"/>
                    <a:pt x="0" y="1730851"/>
                    <a:pt x="0" y="1703281"/>
                  </a:cubicBezTo>
                  <a:lnTo>
                    <a:pt x="0" y="49919"/>
                  </a:lnTo>
                  <a:cubicBezTo>
                    <a:pt x="0" y="22349"/>
                    <a:pt x="22349" y="0"/>
                    <a:pt x="49919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1425" r="0" b="-1425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666750" y="666750"/>
            <a:ext cx="1133475" cy="1133475"/>
          </a:xfrm>
          <a:custGeom>
            <a:avLst/>
            <a:gdLst/>
            <a:ahLst/>
            <a:cxnLst/>
            <a:rect r="r" b="b" t="t" l="l"/>
            <a:pathLst>
              <a:path h="1133475" w="1133475">
                <a:moveTo>
                  <a:pt x="0" y="0"/>
                </a:moveTo>
                <a:lnTo>
                  <a:pt x="1133475" y="0"/>
                </a:lnTo>
                <a:lnTo>
                  <a:pt x="1133475" y="1133475"/>
                </a:lnTo>
                <a:lnTo>
                  <a:pt x="0" y="11334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666750" y="2543175"/>
            <a:ext cx="8324850" cy="4867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000"/>
              </a:lnSpc>
            </a:pPr>
            <a:r>
              <a:rPr lang="en-US" sz="10000" spc="-100">
                <a:solidFill>
                  <a:srgbClr val="E6E6E6"/>
                </a:solidFill>
                <a:latin typeface="Antique Olive"/>
                <a:ea typeface="Antique Olive"/>
                <a:cs typeface="Antique Olive"/>
                <a:sym typeface="Antique Olive"/>
              </a:rPr>
              <a:t>PMAD: Predictive Memory Allocator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66750" y="9248775"/>
            <a:ext cx="6886575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79"/>
              </a:lnSpc>
            </a:pPr>
            <a:r>
              <a:rPr lang="en-US" sz="2400">
                <a:solidFill>
                  <a:srgbClr val="BFC7C9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Изготвено от Димитър Анастасов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4007186"/>
            <a:ext cx="9964866" cy="6247003"/>
          </a:xfrm>
          <a:custGeom>
            <a:avLst/>
            <a:gdLst/>
            <a:ahLst/>
            <a:cxnLst/>
            <a:rect r="r" b="b" t="t" l="l"/>
            <a:pathLst>
              <a:path h="6247003" w="9964866">
                <a:moveTo>
                  <a:pt x="0" y="0"/>
                </a:moveTo>
                <a:lnTo>
                  <a:pt x="9964866" y="0"/>
                </a:lnTo>
                <a:lnTo>
                  <a:pt x="9964866" y="6247003"/>
                </a:lnTo>
                <a:lnTo>
                  <a:pt x="0" y="624700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68" t="0" r="-3615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140878" y="4007186"/>
            <a:ext cx="12587663" cy="6279814"/>
          </a:xfrm>
          <a:custGeom>
            <a:avLst/>
            <a:gdLst/>
            <a:ahLst/>
            <a:cxnLst/>
            <a:rect r="r" b="b" t="t" l="l"/>
            <a:pathLst>
              <a:path h="6279814" w="12587663">
                <a:moveTo>
                  <a:pt x="0" y="0"/>
                </a:moveTo>
                <a:lnTo>
                  <a:pt x="12587663" y="0"/>
                </a:lnTo>
                <a:lnTo>
                  <a:pt x="12587663" y="6279814"/>
                </a:lnTo>
                <a:lnTo>
                  <a:pt x="0" y="627981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661" r="-5039" b="-661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621152" y="3048257"/>
            <a:ext cx="8118661" cy="1561466"/>
            <a:chOff x="0" y="0"/>
            <a:chExt cx="10824881" cy="2081954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0"/>
              <a:ext cx="10824881" cy="685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079"/>
                </a:lnSpc>
                <a:spcBef>
                  <a:spcPct val="0"/>
                </a:spcBef>
              </a:pPr>
              <a:r>
                <a:rPr lang="en-US" b="true" sz="3399" spc="169">
                  <a:solidFill>
                    <a:srgbClr val="BFC7C9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ЛАТЕТНОСТ | ЗАКЪСНЕНИЕ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1330325"/>
              <a:ext cx="10824881" cy="75162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7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328291" y="3048257"/>
            <a:ext cx="8255559" cy="1561465"/>
            <a:chOff x="0" y="0"/>
            <a:chExt cx="11007412" cy="2081953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0"/>
              <a:ext cx="11007412" cy="685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080"/>
                </a:lnSpc>
                <a:spcBef>
                  <a:spcPct val="0"/>
                </a:spcBef>
              </a:pPr>
              <a:r>
                <a:rPr lang="en-US" b="true" sz="3400" spc="170">
                  <a:solidFill>
                    <a:srgbClr val="BFC7C9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ПРОБЛЕМЪТ С ФРАГМЕНТАЦИЯТА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1330325"/>
              <a:ext cx="11007412" cy="75162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760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432067" y="485763"/>
            <a:ext cx="8349456" cy="11525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200"/>
              </a:lnSpc>
              <a:spcBef>
                <a:spcPct val="0"/>
              </a:spcBef>
            </a:pPr>
            <a:r>
              <a:rPr lang="en-US" sz="8000" spc="-80">
                <a:solidFill>
                  <a:srgbClr val="E6E6E6"/>
                </a:solidFill>
                <a:latin typeface="Antique Olive"/>
                <a:ea typeface="Antique Olive"/>
                <a:cs typeface="Antique Olive"/>
                <a:sym typeface="Antique Olive"/>
              </a:rPr>
              <a:t>Проблемът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43904" y="6289055"/>
            <a:ext cx="6886575" cy="891540"/>
            <a:chOff x="0" y="0"/>
            <a:chExt cx="9182100" cy="118872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9525"/>
              <a:ext cx="9182100" cy="492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79"/>
                </a:lnSpc>
                <a:spcBef>
                  <a:spcPct val="0"/>
                </a:spcBef>
              </a:pPr>
              <a:r>
                <a:rPr lang="en-US" b="true" sz="2400" spc="120">
                  <a:solidFill>
                    <a:srgbClr val="BFC7C9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СТРИКТНИ </a:t>
              </a:r>
              <a:r>
                <a:rPr lang="en-US" b="true" sz="2400" spc="120">
                  <a:solidFill>
                    <a:srgbClr val="BFC7C9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O(1)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654050"/>
              <a:ext cx="9182100" cy="5346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2889664" y="6285245"/>
            <a:ext cx="6886575" cy="895350"/>
            <a:chOff x="0" y="0"/>
            <a:chExt cx="9182100" cy="1193800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-9525"/>
              <a:ext cx="9182100" cy="492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79"/>
                </a:lnSpc>
                <a:spcBef>
                  <a:spcPct val="0"/>
                </a:spcBef>
              </a:pPr>
              <a:r>
                <a:rPr lang="en-US" b="true" sz="2400" spc="120">
                  <a:solidFill>
                    <a:srgbClr val="BFC7C9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НИСКА ЛАТЕНТНОСТ 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659130"/>
              <a:ext cx="9182100" cy="5346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66750" y="1562100"/>
            <a:ext cx="16954500" cy="2381255"/>
            <a:chOff x="0" y="0"/>
            <a:chExt cx="22606000" cy="3175006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85725"/>
              <a:ext cx="22606000" cy="194628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000"/>
                </a:lnSpc>
                <a:spcBef>
                  <a:spcPct val="0"/>
                </a:spcBef>
              </a:pPr>
              <a:r>
                <a:rPr lang="en-US" sz="10000" spc="-100">
                  <a:solidFill>
                    <a:srgbClr val="E6E6E6"/>
                  </a:solidFill>
                  <a:latin typeface="Antique Olive"/>
                  <a:ea typeface="Antique Olive"/>
                  <a:cs typeface="Antique Olive"/>
                  <a:sym typeface="Antique Olive"/>
                </a:rPr>
                <a:t>Решението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2682881"/>
              <a:ext cx="22606000" cy="492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79"/>
                </a:lnSpc>
                <a:spcBef>
                  <a:spcPct val="0"/>
                </a:spcBef>
              </a:pPr>
              <a:r>
                <a:rPr lang="en-US" b="true" sz="2400" spc="120">
                  <a:solidFill>
                    <a:srgbClr val="BFC7C9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НОВА ЕРА НА ПРЕДВИДИМОСТ</a:t>
              </a:r>
            </a:p>
          </p:txBody>
        </p:sp>
      </p:grpSp>
      <p:sp>
        <p:nvSpPr>
          <p:cNvPr name="AutoShape 11" id="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66750" y="681038"/>
            <a:ext cx="16954500" cy="0"/>
          </a:xfrm>
          <a:prstGeom prst="line">
            <a:avLst/>
          </a:prstGeom>
          <a:ln cap="rnd" w="28575">
            <a:solidFill>
              <a:srgbClr val="FF9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2" id="12"/>
          <p:cNvGrpSpPr/>
          <p:nvPr/>
        </p:nvGrpSpPr>
        <p:grpSpPr>
          <a:xfrm rot="0">
            <a:off x="4903179" y="6289055"/>
            <a:ext cx="6886575" cy="891540"/>
            <a:chOff x="0" y="0"/>
            <a:chExt cx="9182100" cy="1188720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-9525"/>
              <a:ext cx="9182100" cy="492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79"/>
                </a:lnSpc>
                <a:spcBef>
                  <a:spcPct val="0"/>
                </a:spcBef>
              </a:pPr>
              <a:r>
                <a:rPr lang="en-US" b="true" sz="2400" spc="120">
                  <a:solidFill>
                    <a:srgbClr val="BFC7C9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ПЪЛНА ВЪЗМОЖНОСТ ЗА КОНФИГУРАЦИЯ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654050"/>
              <a:ext cx="9182100" cy="5346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296400" y="1552575"/>
            <a:ext cx="1135886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79"/>
              </a:lnSpc>
              <a:spcBef>
                <a:spcPct val="0"/>
              </a:spcBef>
            </a:pPr>
            <a:r>
              <a:rPr lang="en-US" b="true" sz="2400" spc="120">
                <a:solidFill>
                  <a:srgbClr val="BFC7C9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01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296400" y="4238625"/>
            <a:ext cx="1135886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79"/>
              </a:lnSpc>
              <a:spcBef>
                <a:spcPct val="0"/>
              </a:spcBef>
            </a:pPr>
            <a:r>
              <a:rPr lang="en-US" b="true" sz="2400" spc="120">
                <a:solidFill>
                  <a:srgbClr val="BFC7C9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02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296400" y="6924675"/>
            <a:ext cx="1135886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79"/>
              </a:lnSpc>
              <a:spcBef>
                <a:spcPct val="0"/>
              </a:spcBef>
            </a:pPr>
            <a:r>
              <a:rPr lang="en-US" b="true" sz="2400" spc="120">
                <a:solidFill>
                  <a:srgbClr val="BFC7C9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03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0720027" y="1562100"/>
            <a:ext cx="6901223" cy="895350"/>
            <a:chOff x="0" y="0"/>
            <a:chExt cx="9201631" cy="1193800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-9525"/>
              <a:ext cx="9201631" cy="492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79"/>
                </a:lnSpc>
                <a:spcBef>
                  <a:spcPct val="0"/>
                </a:spcBef>
              </a:pPr>
              <a:r>
                <a:rPr lang="en-US" b="true" sz="2400" spc="120">
                  <a:solidFill>
                    <a:srgbClr val="BFC7C9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SLAB ALLOCATION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659130"/>
              <a:ext cx="9201631" cy="5346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  <a:spcBef>
                  <a:spcPct val="0"/>
                </a:spcBef>
              </a:pPr>
              <a:r>
                <a:rPr lang="en-US" sz="2400">
                  <a:solidFill>
                    <a:srgbClr val="BFC7C9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Ефективно управление на блоковете памет.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720027" y="4248150"/>
            <a:ext cx="6901223" cy="1314450"/>
            <a:chOff x="0" y="0"/>
            <a:chExt cx="9201631" cy="1752600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-9525"/>
              <a:ext cx="9201631" cy="492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79"/>
                </a:lnSpc>
                <a:spcBef>
                  <a:spcPct val="0"/>
                </a:spcBef>
              </a:pPr>
              <a:r>
                <a:rPr lang="en-US" b="true" sz="2400" spc="120">
                  <a:solidFill>
                    <a:srgbClr val="BFC7C9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O(1) LOOKUP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659130"/>
              <a:ext cx="9201631" cy="10934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  <a:spcBef>
                  <a:spcPct val="0"/>
                </a:spcBef>
              </a:pPr>
              <a:r>
                <a:rPr lang="en-US" sz="2400">
                  <a:solidFill>
                    <a:srgbClr val="BFC7C9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Едно и също време за достъп при всяка алокация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720027" y="6934200"/>
            <a:ext cx="6901223" cy="1314450"/>
            <a:chOff x="0" y="0"/>
            <a:chExt cx="9201631" cy="1752600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-9525"/>
              <a:ext cx="9201631" cy="492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79"/>
                </a:lnSpc>
                <a:spcBef>
                  <a:spcPct val="0"/>
                </a:spcBef>
              </a:pPr>
              <a:r>
                <a:rPr lang="en-US" b="true" sz="2400" spc="120">
                  <a:solidFill>
                    <a:srgbClr val="BFC7C9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LIFO FREE LIST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659130"/>
              <a:ext cx="9201631" cy="10934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  <a:spcBef>
                  <a:spcPct val="0"/>
                </a:spcBef>
              </a:pPr>
              <a:r>
                <a:rPr lang="en-US" sz="2400">
                  <a:solidFill>
                    <a:srgbClr val="BFC7C9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Оптимизиран за</a:t>
              </a:r>
              <a:r>
                <a:rPr lang="en-US" sz="2400">
                  <a:solidFill>
                    <a:srgbClr val="BFC7C9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 бързо възстановяване на паметта.</a:t>
              </a: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666750" y="752475"/>
            <a:ext cx="7653814" cy="4867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000"/>
              </a:lnSpc>
              <a:spcBef>
                <a:spcPct val="0"/>
              </a:spcBef>
            </a:pPr>
            <a:r>
              <a:rPr lang="en-US" sz="10000" spc="-100">
                <a:solidFill>
                  <a:srgbClr val="E6E6E6"/>
                </a:solidFill>
                <a:latin typeface="Antique Olive"/>
                <a:ea typeface="Antique Olive"/>
                <a:cs typeface="Antique Olive"/>
                <a:sym typeface="Antique Olive"/>
              </a:rPr>
              <a:t>Основни</a:t>
            </a:r>
            <a:r>
              <a:rPr lang="en-US" sz="10000" spc="-100" strike="noStrike" u="none">
                <a:solidFill>
                  <a:srgbClr val="E6E6E6"/>
                </a:solidFill>
                <a:latin typeface="Antique Olive"/>
                <a:ea typeface="Antique Olive"/>
                <a:cs typeface="Antique Olive"/>
                <a:sym typeface="Antique Olive"/>
              </a:rPr>
              <a:t> </a:t>
            </a:r>
            <a:r>
              <a:rPr lang="en-US" sz="10000" spc="-100" strike="noStrike" u="none">
                <a:solidFill>
                  <a:srgbClr val="E6E6E6"/>
                </a:solidFill>
                <a:latin typeface="Antique Olive"/>
                <a:ea typeface="Antique Olive"/>
                <a:cs typeface="Antique Olive"/>
                <a:sym typeface="Antique Olive"/>
              </a:rPr>
              <a:t>принципи</a:t>
            </a:r>
            <a:r>
              <a:rPr lang="en-US" sz="10000" spc="-100" strike="noStrike" u="none">
                <a:solidFill>
                  <a:srgbClr val="E6E6E6"/>
                </a:solidFill>
                <a:latin typeface="Antique Olive"/>
                <a:ea typeface="Antique Olive"/>
                <a:cs typeface="Antique Olive"/>
                <a:sym typeface="Antique Olive"/>
              </a:rPr>
              <a:t> </a:t>
            </a:r>
            <a:r>
              <a:rPr lang="en-US" sz="10000" spc="-100" strike="noStrike" u="none">
                <a:solidFill>
                  <a:srgbClr val="E6E6E6"/>
                </a:solidFill>
                <a:latin typeface="Antique Olive"/>
                <a:ea typeface="Antique Olive"/>
                <a:cs typeface="Antique Olive"/>
                <a:sym typeface="Antique Olive"/>
              </a:rPr>
              <a:t>на дизайна</a:t>
            </a:r>
          </a:p>
          <a:p>
            <a:pPr algn="l" marL="0" indent="0" lvl="0">
              <a:lnSpc>
                <a:spcPts val="9000"/>
              </a:lnSpc>
              <a:spcBef>
                <a:spcPct val="0"/>
              </a:spcBef>
            </a:pPr>
          </a:p>
        </p:txBody>
      </p:sp>
      <p:sp>
        <p:nvSpPr>
          <p:cNvPr name="AutoShape 15" id="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296400" y="666750"/>
            <a:ext cx="8324850" cy="0"/>
          </a:xfrm>
          <a:prstGeom prst="line">
            <a:avLst/>
          </a:prstGeom>
          <a:ln cap="flat" w="28575">
            <a:solidFill>
              <a:srgbClr val="FF900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404329" y="666750"/>
            <a:ext cx="10318877" cy="8953500"/>
            <a:chOff x="0" y="0"/>
            <a:chExt cx="1598664" cy="138713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98664" cy="1387131"/>
            </a:xfrm>
            <a:custGeom>
              <a:avLst/>
              <a:gdLst/>
              <a:ahLst/>
              <a:cxnLst/>
              <a:rect r="r" b="b" t="t" l="l"/>
              <a:pathLst>
                <a:path h="1387131" w="1598664">
                  <a:moveTo>
                    <a:pt x="37513" y="0"/>
                  </a:moveTo>
                  <a:lnTo>
                    <a:pt x="1561151" y="0"/>
                  </a:lnTo>
                  <a:cubicBezTo>
                    <a:pt x="1571100" y="0"/>
                    <a:pt x="1580642" y="3952"/>
                    <a:pt x="1587677" y="10987"/>
                  </a:cubicBezTo>
                  <a:cubicBezTo>
                    <a:pt x="1594712" y="18023"/>
                    <a:pt x="1598664" y="27564"/>
                    <a:pt x="1598664" y="37513"/>
                  </a:cubicBezTo>
                  <a:lnTo>
                    <a:pt x="1598664" y="1349618"/>
                  </a:lnTo>
                  <a:cubicBezTo>
                    <a:pt x="1598664" y="1359567"/>
                    <a:pt x="1594712" y="1369109"/>
                    <a:pt x="1587677" y="1376144"/>
                  </a:cubicBezTo>
                  <a:cubicBezTo>
                    <a:pt x="1580642" y="1383179"/>
                    <a:pt x="1571100" y="1387131"/>
                    <a:pt x="1561151" y="1387131"/>
                  </a:cubicBezTo>
                  <a:lnTo>
                    <a:pt x="37513" y="1387131"/>
                  </a:lnTo>
                  <a:cubicBezTo>
                    <a:pt x="16795" y="1387131"/>
                    <a:pt x="0" y="1370336"/>
                    <a:pt x="0" y="1349618"/>
                  </a:cubicBezTo>
                  <a:lnTo>
                    <a:pt x="0" y="37513"/>
                  </a:lnTo>
                  <a:cubicBezTo>
                    <a:pt x="0" y="27564"/>
                    <a:pt x="3952" y="18023"/>
                    <a:pt x="10987" y="10987"/>
                  </a:cubicBezTo>
                  <a:cubicBezTo>
                    <a:pt x="18023" y="3952"/>
                    <a:pt x="27564" y="0"/>
                    <a:pt x="37513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2510" r="0" b="-251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368379" y="1455777"/>
            <a:ext cx="7866936" cy="3444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475"/>
              </a:lnSpc>
            </a:pPr>
            <a:r>
              <a:rPr lang="en-US" sz="8475">
                <a:solidFill>
                  <a:srgbClr val="E6E6E6"/>
                </a:solidFill>
                <a:latin typeface="Antique Olive"/>
                <a:ea typeface="Antique Olive"/>
                <a:cs typeface="Antique Olive"/>
                <a:sym typeface="Antique Olive"/>
              </a:rPr>
              <a:t>Преглед</a:t>
            </a:r>
            <a:r>
              <a:rPr lang="en-US" sz="8475" strike="noStrike" u="none">
                <a:solidFill>
                  <a:srgbClr val="E6E6E6"/>
                </a:solidFill>
                <a:latin typeface="Antique Olive"/>
                <a:ea typeface="Antique Olive"/>
                <a:cs typeface="Antique Olive"/>
                <a:sym typeface="Antique Olive"/>
              </a:rPr>
              <a:t> </a:t>
            </a:r>
            <a:r>
              <a:rPr lang="en-US" sz="8475" strike="noStrike" u="none">
                <a:solidFill>
                  <a:srgbClr val="E6E6E6"/>
                </a:solidFill>
                <a:latin typeface="Antique Olive"/>
                <a:ea typeface="Antique Olive"/>
                <a:cs typeface="Antique Olive"/>
                <a:sym typeface="Antique Olive"/>
              </a:rPr>
              <a:t>на архитектурата</a:t>
            </a:r>
          </a:p>
          <a:p>
            <a:pPr algn="l" marL="0" indent="0" lvl="0">
              <a:lnSpc>
                <a:spcPts val="8475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666750" y="9248775"/>
            <a:ext cx="6886575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79"/>
              </a:lnSpc>
              <a:spcBef>
                <a:spcPct val="0"/>
              </a:spcBef>
            </a:pPr>
            <a:r>
              <a:rPr lang="en-US" b="true" sz="2400" spc="120">
                <a:solidFill>
                  <a:srgbClr val="BFC7C9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СТРУКТУРА</a:t>
            </a:r>
            <a:r>
              <a:rPr lang="en-US" b="true" sz="2400" spc="120">
                <a:solidFill>
                  <a:srgbClr val="BFC7C9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 НА PMAD АЛОКАТОРА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991600" y="-311680"/>
            <a:ext cx="8867537" cy="10286503"/>
            <a:chOff x="0" y="0"/>
            <a:chExt cx="2335483" cy="270920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35483" cy="2709202"/>
            </a:xfrm>
            <a:custGeom>
              <a:avLst/>
              <a:gdLst/>
              <a:ahLst/>
              <a:cxnLst/>
              <a:rect r="r" b="b" t="t" l="l"/>
              <a:pathLst>
                <a:path h="2709202" w="2335483">
                  <a:moveTo>
                    <a:pt x="26192" y="0"/>
                  </a:moveTo>
                  <a:lnTo>
                    <a:pt x="2309291" y="0"/>
                  </a:lnTo>
                  <a:cubicBezTo>
                    <a:pt x="2323757" y="0"/>
                    <a:pt x="2335483" y="11727"/>
                    <a:pt x="2335483" y="26192"/>
                  </a:cubicBezTo>
                  <a:lnTo>
                    <a:pt x="2335483" y="2683010"/>
                  </a:lnTo>
                  <a:cubicBezTo>
                    <a:pt x="2335483" y="2689957"/>
                    <a:pt x="2332724" y="2696619"/>
                    <a:pt x="2327812" y="2701531"/>
                  </a:cubicBezTo>
                  <a:cubicBezTo>
                    <a:pt x="2322900" y="2706443"/>
                    <a:pt x="2316238" y="2709202"/>
                    <a:pt x="2309291" y="2709202"/>
                  </a:cubicBezTo>
                  <a:lnTo>
                    <a:pt x="26192" y="2709202"/>
                  </a:lnTo>
                  <a:cubicBezTo>
                    <a:pt x="11727" y="2709202"/>
                    <a:pt x="0" y="2697476"/>
                    <a:pt x="0" y="2683010"/>
                  </a:cubicBezTo>
                  <a:lnTo>
                    <a:pt x="0" y="26192"/>
                  </a:lnTo>
                  <a:cubicBezTo>
                    <a:pt x="0" y="11727"/>
                    <a:pt x="11727" y="0"/>
                    <a:pt x="26192" y="0"/>
                  </a:cubicBezTo>
                  <a:close/>
                </a:path>
              </a:pathLst>
            </a:custGeom>
            <a:solidFill>
              <a:srgbClr val="6A4D9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335483" cy="27473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39579" y="3810000"/>
            <a:ext cx="8137092" cy="7327228"/>
            <a:chOff x="0" y="0"/>
            <a:chExt cx="2143102" cy="192980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43102" cy="1929805"/>
            </a:xfrm>
            <a:custGeom>
              <a:avLst/>
              <a:gdLst/>
              <a:ahLst/>
              <a:cxnLst/>
              <a:rect r="r" b="b" t="t" l="l"/>
              <a:pathLst>
                <a:path h="1929805" w="2143102">
                  <a:moveTo>
                    <a:pt x="48523" y="0"/>
                  </a:moveTo>
                  <a:lnTo>
                    <a:pt x="2094579" y="0"/>
                  </a:lnTo>
                  <a:cubicBezTo>
                    <a:pt x="2121378" y="0"/>
                    <a:pt x="2143102" y="21725"/>
                    <a:pt x="2143102" y="48523"/>
                  </a:cubicBezTo>
                  <a:lnTo>
                    <a:pt x="2143102" y="1881282"/>
                  </a:lnTo>
                  <a:cubicBezTo>
                    <a:pt x="2143102" y="1894151"/>
                    <a:pt x="2137990" y="1906493"/>
                    <a:pt x="2128890" y="1915593"/>
                  </a:cubicBezTo>
                  <a:cubicBezTo>
                    <a:pt x="2119790" y="1924693"/>
                    <a:pt x="2107448" y="1929805"/>
                    <a:pt x="2094579" y="1929805"/>
                  </a:cubicBezTo>
                  <a:lnTo>
                    <a:pt x="48523" y="1929805"/>
                  </a:lnTo>
                  <a:cubicBezTo>
                    <a:pt x="21725" y="1929805"/>
                    <a:pt x="0" y="1908080"/>
                    <a:pt x="0" y="1881282"/>
                  </a:cubicBezTo>
                  <a:lnTo>
                    <a:pt x="0" y="48523"/>
                  </a:lnTo>
                  <a:cubicBezTo>
                    <a:pt x="0" y="21725"/>
                    <a:pt x="21725" y="0"/>
                    <a:pt x="48523" y="0"/>
                  </a:cubicBezTo>
                  <a:close/>
                </a:path>
              </a:pathLst>
            </a:custGeom>
            <a:solidFill>
              <a:srgbClr val="6A4D99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143102" cy="19393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24063" y="3810000"/>
            <a:ext cx="8452608" cy="4860249"/>
          </a:xfrm>
          <a:custGeom>
            <a:avLst/>
            <a:gdLst/>
            <a:ahLst/>
            <a:cxnLst/>
            <a:rect r="r" b="b" t="t" l="l"/>
            <a:pathLst>
              <a:path h="4860249" w="8452608">
                <a:moveTo>
                  <a:pt x="0" y="0"/>
                </a:moveTo>
                <a:lnTo>
                  <a:pt x="8452607" y="0"/>
                </a:lnTo>
                <a:lnTo>
                  <a:pt x="8452607" y="4860249"/>
                </a:lnTo>
                <a:lnTo>
                  <a:pt x="0" y="486024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9110544" y="4831571"/>
            <a:ext cx="8900994" cy="4931923"/>
          </a:xfrm>
          <a:custGeom>
            <a:avLst/>
            <a:gdLst/>
            <a:ahLst/>
            <a:cxnLst/>
            <a:rect r="r" b="b" t="t" l="l"/>
            <a:pathLst>
              <a:path h="4931923" w="8900994">
                <a:moveTo>
                  <a:pt x="0" y="0"/>
                </a:moveTo>
                <a:lnTo>
                  <a:pt x="8900993" y="0"/>
                </a:lnTo>
                <a:lnTo>
                  <a:pt x="8900993" y="4931923"/>
                </a:lnTo>
                <a:lnTo>
                  <a:pt x="0" y="493192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88" r="0" b="-4939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9110544" y="0"/>
            <a:ext cx="8748594" cy="5005197"/>
          </a:xfrm>
          <a:custGeom>
            <a:avLst/>
            <a:gdLst/>
            <a:ahLst/>
            <a:cxnLst/>
            <a:rect r="r" b="b" t="t" l="l"/>
            <a:pathLst>
              <a:path h="5005197" w="8748594">
                <a:moveTo>
                  <a:pt x="0" y="0"/>
                </a:moveTo>
                <a:lnTo>
                  <a:pt x="8748593" y="0"/>
                </a:lnTo>
                <a:lnTo>
                  <a:pt x="8748593" y="5005197"/>
                </a:lnTo>
                <a:lnTo>
                  <a:pt x="0" y="500519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689" r="0" b="-689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695325" y="733425"/>
            <a:ext cx="6858000" cy="3076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425"/>
              </a:lnSpc>
              <a:spcBef>
                <a:spcPct val="0"/>
              </a:spcBef>
            </a:pPr>
            <a:r>
              <a:rPr lang="en-US" sz="8250" spc="-82">
                <a:solidFill>
                  <a:srgbClr val="E6E6E6"/>
                </a:solidFill>
                <a:latin typeface="Antique Olive"/>
                <a:ea typeface="Antique Olive"/>
                <a:cs typeface="Antique Olive"/>
                <a:sym typeface="Antique Olive"/>
              </a:rPr>
              <a:t>Сравнения и резултати</a:t>
            </a:r>
          </a:p>
          <a:p>
            <a:pPr algn="l" marL="0" indent="0" lvl="0">
              <a:lnSpc>
                <a:spcPts val="7425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6720" y="0"/>
            <a:ext cx="17722078" cy="10287000"/>
            <a:chOff x="0" y="0"/>
            <a:chExt cx="1400263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00263" cy="812800"/>
            </a:xfrm>
            <a:custGeom>
              <a:avLst/>
              <a:gdLst/>
              <a:ahLst/>
              <a:cxnLst/>
              <a:rect r="r" b="b" t="t" l="l"/>
              <a:pathLst>
                <a:path h="812800" w="1400263">
                  <a:moveTo>
                    <a:pt x="0" y="0"/>
                  </a:moveTo>
                  <a:lnTo>
                    <a:pt x="1400263" y="0"/>
                  </a:lnTo>
                  <a:lnTo>
                    <a:pt x="1400263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2"/>
              <a:stretch>
                <a:fillRect l="0" t="-2436" r="0" b="-2436"/>
              </a:stretch>
            </a:blipFill>
          </p:spPr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97613" y="4335780"/>
            <a:ext cx="6924675" cy="1615440"/>
            <a:chOff x="0" y="0"/>
            <a:chExt cx="9232900" cy="215392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9525"/>
              <a:ext cx="9182100" cy="9747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79"/>
                </a:lnSpc>
                <a:spcBef>
                  <a:spcPct val="0"/>
                </a:spcBef>
              </a:pPr>
              <a:r>
                <a:rPr lang="en-US" sz="2400" spc="120">
                  <a:solidFill>
                    <a:srgbClr val="BFC7C9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ПЪЛНАТА ВЪЗМОЙНОСТ ЗА КОНФИГУРАЦИЯ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50800" y="1619250"/>
              <a:ext cx="9182100" cy="5346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589841" y="4335780"/>
            <a:ext cx="6886575" cy="1253490"/>
            <a:chOff x="0" y="0"/>
            <a:chExt cx="9182100" cy="1671320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-9525"/>
              <a:ext cx="9182100" cy="492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79"/>
                </a:lnSpc>
                <a:spcBef>
                  <a:spcPct val="0"/>
                </a:spcBef>
              </a:pPr>
              <a:r>
                <a:rPr lang="en-US" b="true" sz="2400" spc="120">
                  <a:solidFill>
                    <a:srgbClr val="BFC7C9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МАТЕМАТИЧРЕСКО ТОЧНИТЕ РЕЗУЛТАТИ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1136650"/>
              <a:ext cx="9182100" cy="5346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666750" y="771525"/>
            <a:ext cx="16954500" cy="28746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079"/>
              </a:lnSpc>
              <a:spcBef>
                <a:spcPct val="0"/>
              </a:spcBef>
            </a:pPr>
            <a:r>
              <a:rPr lang="en-US" sz="11199" spc="-111">
                <a:solidFill>
                  <a:srgbClr val="E6E6E6"/>
                </a:solidFill>
                <a:latin typeface="Antique Olive"/>
                <a:ea typeface="Antique Olive"/>
                <a:cs typeface="Antique Olive"/>
                <a:sym typeface="Antique Olive"/>
              </a:rPr>
              <a:t>Отражението на PMAD в бизнеса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771525"/>
            <a:ext cx="16954500" cy="67036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079"/>
              </a:lnSpc>
              <a:spcBef>
                <a:spcPct val="0"/>
              </a:spcBef>
            </a:pPr>
            <a:r>
              <a:rPr lang="en-US" sz="11199" spc="-111">
                <a:solidFill>
                  <a:srgbClr val="E6E6E6"/>
                </a:solidFill>
                <a:latin typeface="Antique Olive"/>
                <a:ea typeface="Antique Olive"/>
                <a:cs typeface="Antique Olive"/>
                <a:sym typeface="Antique Olive"/>
              </a:rPr>
              <a:t>„Детерминизмът</a:t>
            </a:r>
            <a:r>
              <a:rPr lang="en-US" sz="11199" spc="-111" strike="noStrike" u="none">
                <a:solidFill>
                  <a:srgbClr val="E6E6E6"/>
                </a:solidFill>
                <a:latin typeface="Antique Olive"/>
                <a:ea typeface="Antique Olive"/>
                <a:cs typeface="Antique Olive"/>
                <a:sym typeface="Antique Olive"/>
              </a:rPr>
              <a:t> </a:t>
            </a:r>
            <a:r>
              <a:rPr lang="en-US" sz="11199" spc="-111" strike="noStrike" u="none">
                <a:solidFill>
                  <a:srgbClr val="E6E6E6"/>
                </a:solidFill>
                <a:latin typeface="Antique Olive"/>
                <a:ea typeface="Antique Olive"/>
                <a:cs typeface="Antique Olive"/>
                <a:sym typeface="Antique Olive"/>
              </a:rPr>
              <a:t>е</a:t>
            </a:r>
            <a:r>
              <a:rPr lang="en-US" sz="11199" spc="-111" strike="noStrike" u="none">
                <a:solidFill>
                  <a:srgbClr val="E6E6E6"/>
                </a:solidFill>
                <a:latin typeface="Antique Olive"/>
                <a:ea typeface="Antique Olive"/>
                <a:cs typeface="Antique Olive"/>
                <a:sym typeface="Antique Olive"/>
              </a:rPr>
              <a:t> </a:t>
            </a:r>
            <a:r>
              <a:rPr lang="en-US" sz="11199" spc="-111" strike="noStrike" u="none">
                <a:solidFill>
                  <a:srgbClr val="E6E6E6"/>
                </a:solidFill>
                <a:latin typeface="Antique Olive"/>
                <a:ea typeface="Antique Olive"/>
                <a:cs typeface="Antique Olive"/>
                <a:sym typeface="Antique Olive"/>
              </a:rPr>
              <a:t>характеристика</a:t>
            </a:r>
            <a:r>
              <a:rPr lang="en-US" sz="11199" spc="-111" strike="noStrike" u="none">
                <a:solidFill>
                  <a:srgbClr val="E6E6E6"/>
                </a:solidFill>
                <a:latin typeface="Antique Olive"/>
                <a:ea typeface="Antique Olive"/>
                <a:cs typeface="Antique Olive"/>
                <a:sym typeface="Antique Olive"/>
              </a:rPr>
              <a:t>. </a:t>
            </a:r>
            <a:r>
              <a:rPr lang="en-US" sz="11199" spc="-111" strike="noStrike" u="none">
                <a:solidFill>
                  <a:srgbClr val="E6E6E6"/>
                </a:solidFill>
                <a:latin typeface="Antique Olive"/>
                <a:ea typeface="Antique Olive"/>
                <a:cs typeface="Antique Olive"/>
                <a:sym typeface="Antique Olive"/>
              </a:rPr>
              <a:t>Предсказуемостта</a:t>
            </a:r>
            <a:r>
              <a:rPr lang="en-US" sz="11199" spc="-111" strike="noStrike" u="none">
                <a:solidFill>
                  <a:srgbClr val="E6E6E6"/>
                </a:solidFill>
                <a:latin typeface="Antique Olive"/>
                <a:ea typeface="Antique Olive"/>
                <a:cs typeface="Antique Olive"/>
                <a:sym typeface="Antique Olive"/>
              </a:rPr>
              <a:t> </a:t>
            </a:r>
            <a:r>
              <a:rPr lang="en-US" sz="11199" spc="-111" strike="noStrike" u="none">
                <a:solidFill>
                  <a:srgbClr val="E6E6E6"/>
                </a:solidFill>
                <a:latin typeface="Antique Olive"/>
                <a:ea typeface="Antique Olive"/>
                <a:cs typeface="Antique Olive"/>
                <a:sym typeface="Antique Olive"/>
              </a:rPr>
              <a:t>е</a:t>
            </a:r>
            <a:r>
              <a:rPr lang="en-US" sz="11199" spc="-111" strike="noStrike" u="none">
                <a:solidFill>
                  <a:srgbClr val="E6E6E6"/>
                </a:solidFill>
                <a:latin typeface="Antique Olive"/>
                <a:ea typeface="Antique Olive"/>
                <a:cs typeface="Antique Olive"/>
                <a:sym typeface="Antique Olive"/>
              </a:rPr>
              <a:t> </a:t>
            </a:r>
            <a:r>
              <a:rPr lang="en-US" sz="11199" spc="-111" strike="noStrike" u="none">
                <a:solidFill>
                  <a:srgbClr val="E6E6E6"/>
                </a:solidFill>
                <a:latin typeface="Antique Olive"/>
                <a:ea typeface="Antique Olive"/>
                <a:cs typeface="Antique Olive"/>
                <a:sym typeface="Antique Olive"/>
              </a:rPr>
              <a:t>сила</a:t>
            </a:r>
            <a:r>
              <a:rPr lang="en-US" sz="11199" spc="-111" strike="noStrike" u="none">
                <a:solidFill>
                  <a:srgbClr val="E6E6E6"/>
                </a:solidFill>
                <a:latin typeface="Antique Olive"/>
                <a:ea typeface="Antique Olive"/>
                <a:cs typeface="Antique Olive"/>
                <a:sym typeface="Antique Olive"/>
              </a:rPr>
              <a:t>.</a:t>
            </a:r>
            <a:r>
              <a:rPr lang="en-US" sz="11199" spc="-111" strike="noStrike" u="none">
                <a:solidFill>
                  <a:srgbClr val="E6E6E6"/>
                </a:solidFill>
                <a:latin typeface="Antique Olive"/>
                <a:ea typeface="Antique Olive"/>
                <a:cs typeface="Antique Olive"/>
                <a:sym typeface="Antique Olive"/>
              </a:rPr>
              <a:t>“</a:t>
            </a:r>
          </a:p>
          <a:p>
            <a:pPr algn="l" marL="0" indent="0" lvl="0">
              <a:lnSpc>
                <a:spcPts val="10079"/>
              </a:lnSpc>
              <a:spcBef>
                <a:spcPct val="0"/>
              </a:spcBef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666750" y="9248775"/>
            <a:ext cx="8324850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79"/>
              </a:lnSpc>
              <a:spcBef>
                <a:spcPct val="0"/>
              </a:spcBef>
            </a:pPr>
            <a:r>
              <a:rPr lang="en-US" b="true" sz="2400" spc="120">
                <a:solidFill>
                  <a:srgbClr val="BFC7C9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– PMAD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6659225" y="6934200"/>
            <a:ext cx="3352800" cy="3352800"/>
          </a:xfrm>
          <a:custGeom>
            <a:avLst/>
            <a:gdLst/>
            <a:ahLst/>
            <a:cxnLst/>
            <a:rect r="r" b="b" t="t" l="l"/>
            <a:pathLst>
              <a:path h="3352800" w="3352800">
                <a:moveTo>
                  <a:pt x="0" y="0"/>
                </a:moveTo>
                <a:lnTo>
                  <a:pt x="3352800" y="0"/>
                </a:lnTo>
                <a:lnTo>
                  <a:pt x="3352800" y="3352800"/>
                </a:lnTo>
                <a:lnTo>
                  <a:pt x="0" y="3352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306425" y="6934200"/>
            <a:ext cx="3352800" cy="3352800"/>
          </a:xfrm>
          <a:custGeom>
            <a:avLst/>
            <a:gdLst/>
            <a:ahLst/>
            <a:cxnLst/>
            <a:rect r="r" b="b" t="t" l="l"/>
            <a:pathLst>
              <a:path h="3352800" w="3352800">
                <a:moveTo>
                  <a:pt x="0" y="0"/>
                </a:moveTo>
                <a:lnTo>
                  <a:pt x="3352800" y="0"/>
                </a:lnTo>
                <a:lnTo>
                  <a:pt x="3352800" y="3352800"/>
                </a:lnTo>
                <a:lnTo>
                  <a:pt x="0" y="3352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description>Presentation - PMAD: Predictive Memory Allocator</dc:description>
  <dc:identifier>DAHCpzt6bNg</dc:identifier>
  <dcterms:modified xsi:type="dcterms:W3CDTF">2011-08-01T06:04:30Z</dcterms:modified>
  <cp:revision>1</cp:revision>
  <dc:title>Presentation - PMAD: Predictive Memory Allocator</dc:title>
</cp:coreProperties>
</file>